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80" r:id="rId3"/>
    <p:sldId id="287" r:id="rId4"/>
    <p:sldId id="257" r:id="rId5"/>
    <p:sldId id="258" r:id="rId6"/>
    <p:sldId id="260" r:id="rId7"/>
    <p:sldId id="261" r:id="rId8"/>
    <p:sldId id="273" r:id="rId9"/>
    <p:sldId id="259" r:id="rId10"/>
    <p:sldId id="264" r:id="rId11"/>
    <p:sldId id="262" r:id="rId12"/>
    <p:sldId id="263" r:id="rId13"/>
    <p:sldId id="269" r:id="rId14"/>
    <p:sldId id="270" r:id="rId15"/>
    <p:sldId id="272" r:id="rId16"/>
    <p:sldId id="271" r:id="rId17"/>
    <p:sldId id="265" r:id="rId18"/>
    <p:sldId id="266" r:id="rId19"/>
    <p:sldId id="267" r:id="rId20"/>
    <p:sldId id="268" r:id="rId21"/>
    <p:sldId id="278" r:id="rId22"/>
    <p:sldId id="284" r:id="rId23"/>
    <p:sldId id="274" r:id="rId24"/>
    <p:sldId id="275" r:id="rId25"/>
    <p:sldId id="276" r:id="rId26"/>
    <p:sldId id="277" r:id="rId27"/>
    <p:sldId id="279" r:id="rId28"/>
    <p:sldId id="281" r:id="rId29"/>
    <p:sldId id="283" r:id="rId30"/>
    <p:sldId id="282" r:id="rId31"/>
    <p:sldId id="285" r:id="rId32"/>
    <p:sldId id="286" r:id="rId33"/>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73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C8A51F-C60A-47CA-90D0-DD5C0013EE90}" type="datetimeFigureOut">
              <a:rPr lang="es-CO" smtClean="0"/>
              <a:t>21/10/2026</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0F91C1-25B4-4F7C-AF27-793F2C7A4A5A}" type="slidenum">
              <a:rPr lang="es-CO" smtClean="0"/>
              <a:t>‹Nº›</a:t>
            </a:fld>
            <a:endParaRPr lang="es-CO"/>
          </a:p>
        </p:txBody>
      </p:sp>
    </p:spTree>
    <p:extLst>
      <p:ext uri="{BB962C8B-B14F-4D97-AF65-F5344CB8AC3E}">
        <p14:creationId xmlns:p14="http://schemas.microsoft.com/office/powerpoint/2010/main" val="315136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EC0F91C1-25B4-4F7C-AF27-793F2C7A4A5A}" type="slidenum">
              <a:rPr lang="es-CO" smtClean="0"/>
              <a:t>5</a:t>
            </a:fld>
            <a:endParaRPr lang="es-CO"/>
          </a:p>
        </p:txBody>
      </p:sp>
    </p:spTree>
    <p:extLst>
      <p:ext uri="{BB962C8B-B14F-4D97-AF65-F5344CB8AC3E}">
        <p14:creationId xmlns:p14="http://schemas.microsoft.com/office/powerpoint/2010/main" val="596443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7 Título"/>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s-ES"/>
              <a:t>Haga clic para modificar el estilo de título del patrón</a:t>
            </a:r>
            <a:endParaRPr kumimoji="0" lang="en-US"/>
          </a:p>
        </p:txBody>
      </p:sp>
      <p:sp>
        <p:nvSpPr>
          <p:cNvPr id="9" name="8 Subtítulo"/>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a:xfrm>
            <a:off x="6400800" y="6355080"/>
            <a:ext cx="2286000" cy="365760"/>
          </a:xfrm>
        </p:spPr>
        <p:txBody>
          <a:bodyPr/>
          <a:lstStyle>
            <a:lvl1pPr>
              <a:defRPr sz="1400"/>
            </a:lvl1pPr>
          </a:lstStyle>
          <a:p>
            <a:fld id="{BDBC8660-ADC4-4A2F-836D-09BA4485E2F4}" type="datetimeFigureOut">
              <a:rPr lang="es-CO" smtClean="0"/>
              <a:t>21/10/2026</a:t>
            </a:fld>
            <a:endParaRPr lang="es-CO"/>
          </a:p>
        </p:txBody>
      </p:sp>
      <p:sp>
        <p:nvSpPr>
          <p:cNvPr id="17" name="16 Marcador de pie de página"/>
          <p:cNvSpPr>
            <a:spLocks noGrp="1"/>
          </p:cNvSpPr>
          <p:nvPr>
            <p:ph type="ftr" sz="quarter" idx="11"/>
          </p:nvPr>
        </p:nvSpPr>
        <p:spPr>
          <a:xfrm>
            <a:off x="2898648" y="6355080"/>
            <a:ext cx="3474720" cy="365760"/>
          </a:xfrm>
        </p:spPr>
        <p:txBody>
          <a:bodyPr/>
          <a:lstStyle/>
          <a:p>
            <a:endParaRPr lang="es-CO"/>
          </a:p>
        </p:txBody>
      </p:sp>
      <p:sp>
        <p:nvSpPr>
          <p:cNvPr id="29" name="28 Marcador de número de diapositiva"/>
          <p:cNvSpPr>
            <a:spLocks noGrp="1"/>
          </p:cNvSpPr>
          <p:nvPr>
            <p:ph type="sldNum" sz="quarter" idx="12"/>
          </p:nvPr>
        </p:nvSpPr>
        <p:spPr>
          <a:xfrm>
            <a:off x="1216152" y="6355080"/>
            <a:ext cx="1219200" cy="365760"/>
          </a:xfrm>
        </p:spPr>
        <p:txBody>
          <a:bodyPr/>
          <a:lstStyle/>
          <a:p>
            <a:fld id="{BB0EA6BD-B382-45A0-B519-25F16445FC3F}" type="slidenum">
              <a:rPr lang="es-CO" smtClean="0"/>
              <a:t>‹Nº›</a:t>
            </a:fld>
            <a:endParaRPr lang="es-CO"/>
          </a:p>
        </p:txBody>
      </p:sp>
      <p:sp>
        <p:nvSpPr>
          <p:cNvPr id="21" name="20 Rectángulo"/>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32 Rectángulo"/>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21 Rectángulo"/>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31 Rectángulo"/>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4" name="3 Marcador de fecha"/>
          <p:cNvSpPr>
            <a:spLocks noGrp="1"/>
          </p:cNvSpPr>
          <p:nvPr>
            <p:ph type="dt" sz="half" idx="10"/>
          </p:nvPr>
        </p:nvSpPr>
        <p:spPr/>
        <p:txBody>
          <a:bodyPr/>
          <a:lstStyle/>
          <a:p>
            <a:fld id="{BDBC8660-ADC4-4A2F-836D-09BA4485E2F4}" type="datetimeFigureOut">
              <a:rPr lang="es-CO" smtClean="0"/>
              <a:t>21/10/2026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BB0EA6BD-B382-45A0-B519-25F16445FC3F}" type="slidenum">
              <a:rPr lang="es-CO" smtClean="0"/>
              <a:t>‹Nº›</a:t>
            </a:fld>
            <a:endParaRPr lang="es-CO"/>
          </a:p>
        </p:txBody>
      </p:sp>
      <p:sp>
        <p:nvSpPr>
          <p:cNvPr id="8" name="7 Marcador de contenido"/>
          <p:cNvSpPr>
            <a:spLocks noGrp="1"/>
          </p:cNvSpPr>
          <p:nvPr>
            <p:ph sz="quarter" idx="1"/>
          </p:nvPr>
        </p:nvSpPr>
        <p:spPr>
          <a:xfrm>
            <a:off x="457200" y="1219200"/>
            <a:ext cx="8229600" cy="493776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a:xfrm>
            <a:off x="6400800" y="6355080"/>
            <a:ext cx="2286000" cy="365760"/>
          </a:xfrm>
        </p:spPr>
        <p:txBody>
          <a:bodyPr/>
          <a:lstStyle/>
          <a:p>
            <a:fld id="{BDBC8660-ADC4-4A2F-836D-09BA4485E2F4}" type="datetimeFigureOut">
              <a:rPr lang="es-CO" smtClean="0"/>
              <a:t>21/10/2026</a:t>
            </a:fld>
            <a:endParaRPr lang="es-CO"/>
          </a:p>
        </p:txBody>
      </p:sp>
      <p:sp>
        <p:nvSpPr>
          <p:cNvPr id="5" name="4 Marcador de pie de página"/>
          <p:cNvSpPr>
            <a:spLocks noGrp="1"/>
          </p:cNvSpPr>
          <p:nvPr>
            <p:ph type="ftr" sz="quarter" idx="11"/>
          </p:nvPr>
        </p:nvSpPr>
        <p:spPr>
          <a:xfrm>
            <a:off x="2898648" y="6355080"/>
            <a:ext cx="3474720" cy="365760"/>
          </a:xfrm>
        </p:spPr>
        <p:txBody>
          <a:bodyPr/>
          <a:lstStyle/>
          <a:p>
            <a:endParaRPr lang="es-CO"/>
          </a:p>
        </p:txBody>
      </p:sp>
      <p:sp>
        <p:nvSpPr>
          <p:cNvPr id="6" name="5 Marcador de número de diapositiva"/>
          <p:cNvSpPr>
            <a:spLocks noGrp="1"/>
          </p:cNvSpPr>
          <p:nvPr>
            <p:ph type="sldNum" sz="quarter" idx="12"/>
          </p:nvPr>
        </p:nvSpPr>
        <p:spPr>
          <a:xfrm>
            <a:off x="1069848" y="6355080"/>
            <a:ext cx="1520952" cy="365760"/>
          </a:xfrm>
        </p:spPr>
        <p:txBody>
          <a:bodyPr/>
          <a:lstStyle/>
          <a:p>
            <a:fld id="{BB0EA6BD-B382-45A0-B519-25F16445FC3F}" type="slidenum">
              <a:rPr lang="es-CO" smtClean="0"/>
              <a:t>‹Nº›</a:t>
            </a:fld>
            <a:endParaRPr lang="es-CO"/>
          </a:p>
        </p:txBody>
      </p:sp>
      <p:sp>
        <p:nvSpPr>
          <p:cNvPr id="7" name="6 Rectángulo"/>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lstStyle/>
          <a:p>
            <a:r>
              <a:rPr kumimoji="0" lang="es-ES"/>
              <a:t>Haga clic para modificar el estilo de título del patrón</a:t>
            </a:r>
            <a:endParaRPr kumimoji="0" lang="en-US"/>
          </a:p>
        </p:txBody>
      </p:sp>
      <p:sp>
        <p:nvSpPr>
          <p:cNvPr id="5" name="4 Marcador de fecha"/>
          <p:cNvSpPr>
            <a:spLocks noGrp="1"/>
          </p:cNvSpPr>
          <p:nvPr>
            <p:ph type="dt" sz="half" idx="10"/>
          </p:nvPr>
        </p:nvSpPr>
        <p:spPr/>
        <p:txBody>
          <a:bodyPr/>
          <a:lstStyle/>
          <a:p>
            <a:fld id="{BDBC8660-ADC4-4A2F-836D-09BA4485E2F4}" type="datetimeFigureOut">
              <a:rPr lang="es-CO" smtClean="0"/>
              <a:t>21/10/2026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BB0EA6BD-B382-45A0-B519-25F16445FC3F}" type="slidenum">
              <a:rPr lang="es-CO" smtClean="0"/>
              <a:t>‹Nº›</a:t>
            </a:fld>
            <a:endParaRPr lang="es-CO"/>
          </a:p>
        </p:txBody>
      </p:sp>
      <p:sp>
        <p:nvSpPr>
          <p:cNvPr id="9" name="8 Marcador de contenido"/>
          <p:cNvSpPr>
            <a:spLocks noGrp="1"/>
          </p:cNvSpPr>
          <p:nvPr>
            <p:ph sz="quarter" idx="1"/>
          </p:nvPr>
        </p:nvSpPr>
        <p:spPr>
          <a:xfrm>
            <a:off x="457200" y="1219200"/>
            <a:ext cx="4041648" cy="493776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1" name="10 Marcador de contenido"/>
          <p:cNvSpPr>
            <a:spLocks noGrp="1"/>
          </p:cNvSpPr>
          <p:nvPr>
            <p:ph sz="quarter" idx="2"/>
          </p:nvPr>
        </p:nvSpPr>
        <p:spPr>
          <a:xfrm>
            <a:off x="4632198" y="1216152"/>
            <a:ext cx="4041648" cy="493776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nchor="ctr"/>
          <a:lstStyle>
            <a:lvl1pPr>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7" name="6 Marcador de fecha"/>
          <p:cNvSpPr>
            <a:spLocks noGrp="1"/>
          </p:cNvSpPr>
          <p:nvPr>
            <p:ph type="dt" sz="half" idx="10"/>
          </p:nvPr>
        </p:nvSpPr>
        <p:spPr/>
        <p:txBody>
          <a:bodyPr/>
          <a:lstStyle/>
          <a:p>
            <a:fld id="{BDBC8660-ADC4-4A2F-836D-09BA4485E2F4}" type="datetimeFigureOut">
              <a:rPr lang="es-CO" smtClean="0"/>
              <a:t>21/10/2026</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BB0EA6BD-B382-45A0-B519-25F16445FC3F}" type="slidenum">
              <a:rPr lang="es-CO" smtClean="0"/>
              <a:t>‹Nº›</a:t>
            </a:fld>
            <a:endParaRPr lang="es-CO"/>
          </a:p>
        </p:txBody>
      </p:sp>
      <p:sp>
        <p:nvSpPr>
          <p:cNvPr id="11" name="10 Marcador de contenido"/>
          <p:cNvSpPr>
            <a:spLocks noGrp="1"/>
          </p:cNvSpPr>
          <p:nvPr>
            <p:ph sz="quarter" idx="2"/>
          </p:nvPr>
        </p:nvSpPr>
        <p:spPr>
          <a:xfrm>
            <a:off x="457200" y="2133600"/>
            <a:ext cx="4038600" cy="40386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3" name="12 Marcador de contenido"/>
          <p:cNvSpPr>
            <a:spLocks noGrp="1"/>
          </p:cNvSpPr>
          <p:nvPr>
            <p:ph sz="quarter" idx="4"/>
          </p:nvPr>
        </p:nvSpPr>
        <p:spPr>
          <a:xfrm>
            <a:off x="4648200" y="2133600"/>
            <a:ext cx="4038600" cy="40386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fld id="{BDBC8660-ADC4-4A2F-836D-09BA4485E2F4}" type="datetimeFigureOut">
              <a:rPr lang="es-CO" smtClean="0"/>
              <a:t>21/10/2026</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BB0EA6BD-B382-45A0-B519-25F16445FC3F}" type="slidenum">
              <a:rPr lang="es-CO" smtClean="0"/>
              <a:t>‹Nº›</a:t>
            </a:fld>
            <a:endParaRPr lang="es-CO"/>
          </a:p>
        </p:txBody>
      </p:sp>
      <p:sp>
        <p:nvSpPr>
          <p:cNvPr id="6" name="5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BDBC8660-ADC4-4A2F-836D-09BA4485E2F4}" type="datetimeFigureOut">
              <a:rPr lang="es-CO" smtClean="0"/>
              <a:t>21/10/2026</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BB0EA6BD-B382-45A0-B519-25F16445FC3F}" type="slidenum">
              <a:rPr lang="es-CO" smtClean="0"/>
              <a:t>‹Nº›</a:t>
            </a:fld>
            <a:endParaRPr lang="es-CO"/>
          </a:p>
        </p:txBody>
      </p:sp>
      <p:sp>
        <p:nvSpPr>
          <p:cNvPr id="5" name="4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5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BDBC8660-ADC4-4A2F-836D-09BA4485E2F4}" type="datetimeFigureOut">
              <a:rPr lang="es-CO" smtClean="0"/>
              <a:t>21/10/2026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BB0EA6BD-B382-45A0-B519-25F16445FC3F}" type="slidenum">
              <a:rPr lang="es-CO" smtClean="0"/>
              <a:t>‹Nº›</a:t>
            </a:fld>
            <a:endParaRPr lang="es-CO"/>
          </a:p>
        </p:txBody>
      </p:sp>
      <p:sp>
        <p:nvSpPr>
          <p:cNvPr id="8" name="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9 Conector recto"/>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Marcador de contenido"/>
          <p:cNvSpPr>
            <a:spLocks noGrp="1"/>
          </p:cNvSpPr>
          <p:nvPr>
            <p:ph sz="quarter" idx="1"/>
          </p:nvPr>
        </p:nvSpPr>
        <p:spPr>
          <a:xfrm>
            <a:off x="304800" y="304800"/>
            <a:ext cx="5715000" cy="5715000"/>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s-ES"/>
              <a:t>Haga clic para modificar el estilo de título del patrón</a:t>
            </a:r>
            <a:endParaRPr kumimoji="0" lang="en-US"/>
          </a:p>
        </p:txBody>
      </p:sp>
      <p:sp>
        <p:nvSpPr>
          <p:cNvPr id="3" name="2 Marcador de posición de imagen"/>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s-ES"/>
              <a:t>Haga clic en el icono para agregar una imagen</a:t>
            </a:r>
            <a:endParaRPr kumimoji="0" lang="en-US" dirty="0"/>
          </a:p>
        </p:txBody>
      </p:sp>
      <p:sp>
        <p:nvSpPr>
          <p:cNvPr id="4" name="3 Marcador de texto"/>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BDBC8660-ADC4-4A2F-836D-09BA4485E2F4}" type="datetimeFigureOut">
              <a:rPr lang="es-CO" smtClean="0"/>
              <a:t>21/10/2026</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BB0EA6BD-B382-45A0-B519-25F16445FC3F}" type="slidenum">
              <a:rPr lang="es-CO" smtClean="0"/>
              <a:t>‹Nº›</a:t>
            </a:fld>
            <a:endParaRPr lang="es-CO"/>
          </a:p>
        </p:txBody>
      </p:sp>
      <p:sp>
        <p:nvSpPr>
          <p:cNvPr id="8" name="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8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BDBC8660-ADC4-4A2F-836D-09BA4485E2F4}" type="datetimeFigureOut">
              <a:rPr lang="es-CO" smtClean="0"/>
              <a:t>21/10/2026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BB0EA6BD-B382-45A0-B519-25F16445FC3F}" type="slidenum">
              <a:rPr lang="es-CO" smtClean="0"/>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BDBC8660-ADC4-4A2F-836D-09BA4485E2F4}" type="datetimeFigureOut">
              <a:rPr lang="es-CO" smtClean="0"/>
              <a:t>21/10/2026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BB0EA6BD-B382-45A0-B519-25F16445FC3F}" type="slidenum">
              <a:rPr lang="es-CO" smtClean="0"/>
              <a:t>‹Nº›</a:t>
            </a:fld>
            <a:endParaRPr lang="es-CO"/>
          </a:p>
        </p:txBody>
      </p:sp>
      <p:sp>
        <p:nvSpPr>
          <p:cNvPr id="7" name="6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7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Conector recto"/>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21 Marcador de título"/>
          <p:cNvSpPr>
            <a:spLocks noGrp="1"/>
          </p:cNvSpPr>
          <p:nvPr>
            <p:ph type="title"/>
          </p:nvPr>
        </p:nvSpPr>
        <p:spPr>
          <a:xfrm>
            <a:off x="457200" y="152400"/>
            <a:ext cx="8229600" cy="990600"/>
          </a:xfrm>
          <a:prstGeom prst="rect">
            <a:avLst/>
          </a:prstGeom>
        </p:spPr>
        <p:txBody>
          <a:bodyPr vert="horz" anchor="b" anchorCtr="0">
            <a:normAutofit/>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BDBC8660-ADC4-4A2F-836D-09BA4485E2F4}" type="datetimeFigureOut">
              <a:rPr lang="es-CO" smtClean="0"/>
              <a:t>21/10/2026</a:t>
            </a:fld>
            <a:endParaRPr lang="es-CO"/>
          </a:p>
        </p:txBody>
      </p:sp>
      <p:sp>
        <p:nvSpPr>
          <p:cNvPr id="3" name="2 Marcador de pie de página"/>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s-CO"/>
          </a:p>
        </p:txBody>
      </p:sp>
      <p:sp>
        <p:nvSpPr>
          <p:cNvPr id="23" name="22 Marcador de número de diapositiva"/>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B0EA6BD-B382-45A0-B519-25F16445FC3F}" type="slidenum">
              <a:rPr lang="es-CO" smtClean="0"/>
              <a:t>‹Nº›</a:t>
            </a:fld>
            <a:endParaRPr lang="es-CO"/>
          </a:p>
        </p:txBody>
      </p:sp>
      <p:sp>
        <p:nvSpPr>
          <p:cNvPr id="28" name="2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28 Conector recto"/>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9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20.png"/><Relationship Id="rId7" Type="http://schemas.openxmlformats.org/officeDocument/2006/relationships/image" Target="../media/image22.jpe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6.jpeg"/><Relationship Id="rId10" Type="http://schemas.openxmlformats.org/officeDocument/2006/relationships/image" Target="../media/image25.jpeg"/><Relationship Id="rId4" Type="http://schemas.openxmlformats.org/officeDocument/2006/relationships/image" Target="../media/image3.png"/><Relationship Id="rId9" Type="http://schemas.openxmlformats.org/officeDocument/2006/relationships/image" Target="../media/image24.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219200" y="3717032"/>
            <a:ext cx="6858000" cy="1159768"/>
          </a:xfrm>
        </p:spPr>
        <p:txBody>
          <a:bodyPr>
            <a:normAutofit fontScale="90000"/>
          </a:bodyPr>
          <a:lstStyle/>
          <a:p>
            <a:r>
              <a:rPr lang="es-CO" sz="2400" dirty="0"/>
              <a:t>Desarrollo de una aplicación visual para el monitoreo y control de instrumentos electrónicos.</a:t>
            </a:r>
          </a:p>
        </p:txBody>
      </p:sp>
      <p:sp>
        <p:nvSpPr>
          <p:cNvPr id="3" name="2 Subtítulo"/>
          <p:cNvSpPr>
            <a:spLocks noGrp="1"/>
          </p:cNvSpPr>
          <p:nvPr>
            <p:ph type="subTitle" idx="1"/>
          </p:nvPr>
        </p:nvSpPr>
        <p:spPr/>
        <p:txBody>
          <a:bodyPr>
            <a:normAutofit/>
          </a:bodyPr>
          <a:lstStyle/>
          <a:p>
            <a:r>
              <a:rPr lang="es-CO" dirty="0"/>
              <a:t>Ing. Diego Alejandro Amaya Arjona</a:t>
            </a:r>
            <a:r>
              <a:rPr lang="es-CO"/>
              <a:t>, Esp</a:t>
            </a:r>
            <a:endParaRPr lang="es-CO" dirty="0"/>
          </a:p>
        </p:txBody>
      </p:sp>
    </p:spTree>
    <p:extLst>
      <p:ext uri="{BB962C8B-B14F-4D97-AF65-F5344CB8AC3E}">
        <p14:creationId xmlns:p14="http://schemas.microsoft.com/office/powerpoint/2010/main" val="1757872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CO" dirty="0"/>
              <a:t>Acerca del Autor</a:t>
            </a:r>
          </a:p>
        </p:txBody>
      </p:sp>
      <p:sp>
        <p:nvSpPr>
          <p:cNvPr id="3" name="2 Marcador de contenido"/>
          <p:cNvSpPr>
            <a:spLocks noGrp="1"/>
          </p:cNvSpPr>
          <p:nvPr>
            <p:ph sz="quarter" idx="1"/>
          </p:nvPr>
        </p:nvSpPr>
        <p:spPr/>
        <p:txBody>
          <a:bodyPr/>
          <a:lstStyle/>
          <a:p>
            <a:pPr algn="just"/>
            <a:r>
              <a:rPr lang="es-CO" b="1" dirty="0"/>
              <a:t>Diego A. Amaya A: </a:t>
            </a:r>
            <a:r>
              <a:rPr lang="es-CO" dirty="0"/>
              <a:t>Ingeniero de Sistemas. Tecnólogo en Informática. Especialista en Desarrollo de Software - UNIMINUTO. Experiencia profesional de más de 15 años en Desarrollo de Software.</a:t>
            </a:r>
          </a:p>
        </p:txBody>
      </p:sp>
    </p:spTree>
    <p:extLst>
      <p:ext uri="{BB962C8B-B14F-4D97-AF65-F5344CB8AC3E}">
        <p14:creationId xmlns:p14="http://schemas.microsoft.com/office/powerpoint/2010/main" val="169610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Agenda</a:t>
            </a:r>
          </a:p>
        </p:txBody>
      </p:sp>
      <p:sp>
        <p:nvSpPr>
          <p:cNvPr id="3" name="2 Marcador de contenido"/>
          <p:cNvSpPr>
            <a:spLocks noGrp="1"/>
          </p:cNvSpPr>
          <p:nvPr>
            <p:ph sz="quarter" idx="1"/>
          </p:nvPr>
        </p:nvSpPr>
        <p:spPr/>
        <p:txBody>
          <a:bodyPr/>
          <a:lstStyle/>
          <a:p>
            <a:r>
              <a:rPr lang="es-CO" dirty="0"/>
              <a:t>Planteamiento del Problema.</a:t>
            </a:r>
          </a:p>
          <a:p>
            <a:r>
              <a:rPr lang="es-CO" dirty="0"/>
              <a:t>Justificación del Problema.</a:t>
            </a:r>
          </a:p>
          <a:p>
            <a:r>
              <a:rPr lang="es-CO" dirty="0"/>
              <a:t>Objetivos.</a:t>
            </a:r>
          </a:p>
          <a:p>
            <a:r>
              <a:rPr lang="es-CO" dirty="0"/>
              <a:t>Marco Teórico.</a:t>
            </a:r>
          </a:p>
          <a:p>
            <a:r>
              <a:rPr lang="es-CO" dirty="0"/>
              <a:t>Plan de Implementación.</a:t>
            </a:r>
          </a:p>
          <a:p>
            <a:r>
              <a:rPr lang="es-CO" dirty="0"/>
              <a:t>Estructura de la Aplicación.</a:t>
            </a:r>
          </a:p>
          <a:p>
            <a:r>
              <a:rPr lang="es-CO" dirty="0"/>
              <a:t>Resultado del Proceso de Construcción.</a:t>
            </a:r>
          </a:p>
          <a:p>
            <a:r>
              <a:rPr lang="es-CO" dirty="0"/>
              <a:t>Restricciones Presentadas.</a:t>
            </a:r>
          </a:p>
          <a:p>
            <a:r>
              <a:rPr lang="es-CO" dirty="0"/>
              <a:t>Prueba del Aplicativo.</a:t>
            </a:r>
          </a:p>
          <a:p>
            <a:r>
              <a:rPr lang="es-CO" dirty="0"/>
              <a:t>Conclusiones.</a:t>
            </a:r>
          </a:p>
        </p:txBody>
      </p:sp>
    </p:spTree>
    <p:extLst>
      <p:ext uri="{BB962C8B-B14F-4D97-AF65-F5344CB8AC3E}">
        <p14:creationId xmlns:p14="http://schemas.microsoft.com/office/powerpoint/2010/main" val="1610693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Planteamiento del Problema</a:t>
            </a:r>
          </a:p>
        </p:txBody>
      </p:sp>
      <p:sp>
        <p:nvSpPr>
          <p:cNvPr id="3" name="2 Marcador de contenido"/>
          <p:cNvSpPr>
            <a:spLocks noGrp="1"/>
          </p:cNvSpPr>
          <p:nvPr>
            <p:ph sz="quarter" idx="1"/>
          </p:nvPr>
        </p:nvSpPr>
        <p:spPr/>
        <p:txBody>
          <a:bodyPr/>
          <a:lstStyle/>
          <a:p>
            <a:pPr algn="just"/>
            <a:r>
              <a:rPr lang="es-CO" dirty="0"/>
              <a:t>¿Cómo poder obtener la información de un conjunto de instrumentos electrónicos para poder llevar a cabo un proceso de monitoreo y control a las variables más importantes tales como: humedad, temperatura, flujo, volumen, etc. por medio de una interfaz gráfica de usuario y así poder llevar a cabo análisis más detallados?</a:t>
            </a:r>
          </a:p>
        </p:txBody>
      </p:sp>
    </p:spTree>
    <p:extLst>
      <p:ext uri="{BB962C8B-B14F-4D97-AF65-F5344CB8AC3E}">
        <p14:creationId xmlns:p14="http://schemas.microsoft.com/office/powerpoint/2010/main" val="357944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Justificación del Problema</a:t>
            </a:r>
          </a:p>
        </p:txBody>
      </p:sp>
      <p:sp>
        <p:nvSpPr>
          <p:cNvPr id="3" name="2 Marcador de contenido"/>
          <p:cNvSpPr>
            <a:spLocks noGrp="1"/>
          </p:cNvSpPr>
          <p:nvPr>
            <p:ph sz="quarter" idx="1"/>
          </p:nvPr>
        </p:nvSpPr>
        <p:spPr/>
        <p:txBody>
          <a:bodyPr>
            <a:normAutofit lnSpcReduction="10000"/>
          </a:bodyPr>
          <a:lstStyle/>
          <a:p>
            <a:pPr algn="just"/>
            <a:r>
              <a:rPr lang="es-CO" dirty="0"/>
              <a:t>Para poder llevar a cabo un proceso de monitoreo y control sobre varios instrumentos se propuso la creación de una aplicación visual que sea capaz de comunicarse con varios instrumentos a través de puerto serial y procesar los datos para luego hacer el respectivo tratamiento (visualización en gráficas de tiempo y tablas dinámicas). Nótese que para cada instrumento el tratamiento de cada registro varía sustancialmente.</a:t>
            </a:r>
          </a:p>
          <a:p>
            <a:pPr algn="just"/>
            <a:r>
              <a:rPr lang="es-CO" dirty="0"/>
              <a:t>Después de analizar cada instrumento se recolectaron los datos arrojados y así se pudo llevar a cabo la creación de una interfaz gráfica que facilita la recolección,  el procesamiento de datos y su posterior monitoreo en tiempo real.</a:t>
            </a:r>
          </a:p>
        </p:txBody>
      </p:sp>
    </p:spTree>
    <p:extLst>
      <p:ext uri="{BB962C8B-B14F-4D97-AF65-F5344CB8AC3E}">
        <p14:creationId xmlns:p14="http://schemas.microsoft.com/office/powerpoint/2010/main" val="3076643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Objetivos</a:t>
            </a:r>
          </a:p>
        </p:txBody>
      </p:sp>
      <p:sp>
        <p:nvSpPr>
          <p:cNvPr id="3" name="2 Marcador de contenido"/>
          <p:cNvSpPr>
            <a:spLocks noGrp="1"/>
          </p:cNvSpPr>
          <p:nvPr>
            <p:ph sz="quarter" idx="1"/>
          </p:nvPr>
        </p:nvSpPr>
        <p:spPr/>
        <p:txBody>
          <a:bodyPr>
            <a:normAutofit lnSpcReduction="10000"/>
          </a:bodyPr>
          <a:lstStyle/>
          <a:p>
            <a:r>
              <a:rPr lang="es-CO" dirty="0"/>
              <a:t>General</a:t>
            </a:r>
          </a:p>
          <a:p>
            <a:pPr lvl="1" algn="just"/>
            <a:r>
              <a:rPr lang="es-CO" dirty="0"/>
              <a:t>Desarrollar una aplicación gráfica que facilite el proceso de monitoreo y control de los datos obtenidos de un conjunto de un conjunto de instrumentos.</a:t>
            </a:r>
          </a:p>
          <a:p>
            <a:r>
              <a:rPr lang="es-CO" dirty="0"/>
              <a:t>Específicos</a:t>
            </a:r>
          </a:p>
          <a:p>
            <a:pPr lvl="1" algn="just"/>
            <a:r>
              <a:rPr lang="es-CO" dirty="0"/>
              <a:t>Crear un interfaz gráfica que facilite la captura de datos de cualquier instrumento y permita la generación de reportes en formato PDF.</a:t>
            </a:r>
          </a:p>
          <a:p>
            <a:pPr lvl="1" algn="just"/>
            <a:r>
              <a:rPr lang="es-CO" dirty="0"/>
              <a:t>Crear una interfaz gráfica que tome los datos de cada instrumento, los muestre gráficamente y los distribuya visualmente en componentes emergentes.</a:t>
            </a:r>
          </a:p>
          <a:p>
            <a:pPr lvl="1" algn="just"/>
            <a:r>
              <a:rPr lang="es-CO" dirty="0"/>
              <a:t>Crear una interfaz gráfica que recopile de forma tabular los datos tomados de cada instrumento y las organice en un formato único y ordenado.</a:t>
            </a:r>
          </a:p>
        </p:txBody>
      </p:sp>
    </p:spTree>
    <p:extLst>
      <p:ext uri="{BB962C8B-B14F-4D97-AF65-F5344CB8AC3E}">
        <p14:creationId xmlns:p14="http://schemas.microsoft.com/office/powerpoint/2010/main" val="371236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Alcance</a:t>
            </a:r>
          </a:p>
        </p:txBody>
      </p:sp>
      <p:sp>
        <p:nvSpPr>
          <p:cNvPr id="3" name="2 Marcador de contenido"/>
          <p:cNvSpPr>
            <a:spLocks noGrp="1"/>
          </p:cNvSpPr>
          <p:nvPr>
            <p:ph sz="quarter" idx="1"/>
          </p:nvPr>
        </p:nvSpPr>
        <p:spPr/>
        <p:txBody>
          <a:bodyPr/>
          <a:lstStyle/>
          <a:p>
            <a:pPr algn="just"/>
            <a:r>
              <a:rPr lang="es-CO" dirty="0"/>
              <a:t>El sistema implementado consiste en una interfaz de usuario que representa una estación central de monitoreo, donde se busca medir el comportamiento que tiene el conjunto de variables más relevante de cada instrumento.</a:t>
            </a:r>
          </a:p>
          <a:p>
            <a:pPr algn="just"/>
            <a:r>
              <a:rPr lang="es-CO" b="1" dirty="0"/>
              <a:t>Alcance: </a:t>
            </a:r>
            <a:r>
              <a:rPr lang="es-CO" dirty="0"/>
              <a:t> Para el sistema se hizo un proceso de monitoreo y control sobre los datos más relevantes de </a:t>
            </a:r>
            <a:r>
              <a:rPr lang="es-CO" b="1" dirty="0"/>
              <a:t>3 instrumentos</a:t>
            </a:r>
            <a:r>
              <a:rPr lang="es-CO" dirty="0"/>
              <a:t>.</a:t>
            </a:r>
          </a:p>
        </p:txBody>
      </p:sp>
    </p:spTree>
    <p:extLst>
      <p:ext uri="{BB962C8B-B14F-4D97-AF65-F5344CB8AC3E}">
        <p14:creationId xmlns:p14="http://schemas.microsoft.com/office/powerpoint/2010/main" val="3312762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Plan de Implementación</a:t>
            </a:r>
          </a:p>
        </p:txBody>
      </p:sp>
      <p:pic>
        <p:nvPicPr>
          <p:cNvPr id="4" name="3 Marcador de contenido" descr="C:\Users\DiegoAmaya\Desktop\proceso_trabajo.png"/>
          <p:cNvPicPr>
            <a:picLocks noGrp="1"/>
          </p:cNvPicPr>
          <p:nvPr>
            <p:ph sz="quarter" idx="1"/>
          </p:nvPr>
        </p:nvPicPr>
        <p:blipFill>
          <a:blip r:embed="rId2" cstate="print"/>
          <a:srcRect/>
          <a:stretch>
            <a:fillRect/>
          </a:stretch>
        </p:blipFill>
        <p:spPr bwMode="auto">
          <a:xfrm>
            <a:off x="600571" y="2459191"/>
            <a:ext cx="7942858" cy="3130049"/>
          </a:xfrm>
          <a:prstGeom prst="rect">
            <a:avLst/>
          </a:prstGeom>
          <a:noFill/>
          <a:ln w="9525">
            <a:noFill/>
            <a:miter lim="800000"/>
            <a:headEnd/>
            <a:tailEnd/>
          </a:ln>
        </p:spPr>
      </p:pic>
    </p:spTree>
    <p:extLst>
      <p:ext uri="{BB962C8B-B14F-4D97-AF65-F5344CB8AC3E}">
        <p14:creationId xmlns:p14="http://schemas.microsoft.com/office/powerpoint/2010/main" val="1087470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57200" y="1219200"/>
            <a:ext cx="8229600" cy="553616"/>
          </a:xfrm>
        </p:spPr>
        <p:txBody>
          <a:bodyPr/>
          <a:lstStyle/>
          <a:p>
            <a:r>
              <a:rPr lang="es-CO" dirty="0"/>
              <a:t>Instrumentos Requeridos para el Monitoreo</a:t>
            </a:r>
          </a:p>
        </p:txBody>
      </p:sp>
      <p:graphicFrame>
        <p:nvGraphicFramePr>
          <p:cNvPr id="4" name="3 Tabla"/>
          <p:cNvGraphicFramePr>
            <a:graphicFrameLocks noGrp="1"/>
          </p:cNvGraphicFramePr>
          <p:nvPr>
            <p:extLst>
              <p:ext uri="{D42A27DB-BD31-4B8C-83A1-F6EECF244321}">
                <p14:modId xmlns:p14="http://schemas.microsoft.com/office/powerpoint/2010/main" val="633432695"/>
              </p:ext>
            </p:extLst>
          </p:nvPr>
        </p:nvGraphicFramePr>
        <p:xfrm>
          <a:off x="1115616" y="2060848"/>
          <a:ext cx="6696744" cy="3384377"/>
        </p:xfrm>
        <a:graphic>
          <a:graphicData uri="http://schemas.openxmlformats.org/drawingml/2006/table">
            <a:tbl>
              <a:tblPr>
                <a:tableStyleId>{9D7B26C5-4107-4FEC-AEDC-1716B250A1EF}</a:tableStyleId>
              </a:tblPr>
              <a:tblGrid>
                <a:gridCol w="2422646">
                  <a:extLst>
                    <a:ext uri="{9D8B030D-6E8A-4147-A177-3AD203B41FA5}">
                      <a16:colId xmlns:a16="http://schemas.microsoft.com/office/drawing/2014/main" val="20000"/>
                    </a:ext>
                  </a:extLst>
                </a:gridCol>
                <a:gridCol w="4274098">
                  <a:extLst>
                    <a:ext uri="{9D8B030D-6E8A-4147-A177-3AD203B41FA5}">
                      <a16:colId xmlns:a16="http://schemas.microsoft.com/office/drawing/2014/main" val="20001"/>
                    </a:ext>
                  </a:extLst>
                </a:gridCol>
              </a:tblGrid>
              <a:tr h="392662">
                <a:tc>
                  <a:txBody>
                    <a:bodyPr/>
                    <a:lstStyle/>
                    <a:p>
                      <a:pPr algn="ctr" fontAlgn="ctr"/>
                      <a:r>
                        <a:rPr lang="es-MX" sz="2000" b="1" u="none" strike="noStrike" dirty="0">
                          <a:effectLst/>
                        </a:rPr>
                        <a:t>Instrumento</a:t>
                      </a:r>
                      <a:endParaRPr lang="es-CO" sz="2000" b="1" i="0" u="none" strike="noStrike" dirty="0">
                        <a:solidFill>
                          <a:srgbClr val="FFFFFF"/>
                        </a:solidFill>
                        <a:effectLst/>
                        <a:latin typeface="LM Roman 12"/>
                      </a:endParaRPr>
                    </a:p>
                  </a:txBody>
                  <a:tcPr marL="9525" marR="9525" marT="9525" marB="0" anchor="ctr"/>
                </a:tc>
                <a:tc>
                  <a:txBody>
                    <a:bodyPr/>
                    <a:lstStyle/>
                    <a:p>
                      <a:pPr algn="ctr" fontAlgn="ctr"/>
                      <a:r>
                        <a:rPr lang="es-MX" sz="2000" b="1" u="none" strike="noStrike" dirty="0">
                          <a:effectLst/>
                        </a:rPr>
                        <a:t>Descripción</a:t>
                      </a:r>
                      <a:endParaRPr lang="es-CO" sz="2000" b="1" i="0" u="none" strike="noStrike" dirty="0">
                        <a:solidFill>
                          <a:srgbClr val="FFFFFF"/>
                        </a:solidFill>
                        <a:effectLst/>
                        <a:latin typeface="LM Roman 12"/>
                      </a:endParaRPr>
                    </a:p>
                  </a:txBody>
                  <a:tcPr marL="9525" marR="9525" marT="9525" marB="0" anchor="ctr"/>
                </a:tc>
                <a:extLst>
                  <a:ext uri="{0D108BD9-81ED-4DB2-BD59-A6C34878D82A}">
                    <a16:rowId xmlns:a16="http://schemas.microsoft.com/office/drawing/2014/main" val="10000"/>
                  </a:ext>
                </a:extLst>
              </a:tr>
              <a:tr h="1121893">
                <a:tc>
                  <a:txBody>
                    <a:bodyPr/>
                    <a:lstStyle/>
                    <a:p>
                      <a:pPr algn="just" fontAlgn="ctr"/>
                      <a:r>
                        <a:rPr lang="es-MX" sz="2000" u="none" strike="noStrike" dirty="0">
                          <a:effectLst/>
                        </a:rPr>
                        <a:t>Termocuplas tipo L</a:t>
                      </a:r>
                      <a:endParaRPr lang="es-CO" sz="2000" b="0" i="0" u="none" strike="noStrike" dirty="0">
                        <a:solidFill>
                          <a:srgbClr val="000000"/>
                        </a:solidFill>
                        <a:effectLst/>
                        <a:latin typeface="LM Roman 12"/>
                      </a:endParaRPr>
                    </a:p>
                  </a:txBody>
                  <a:tcPr marL="9525" marR="9525" marT="9525" marB="0" anchor="ctr"/>
                </a:tc>
                <a:tc>
                  <a:txBody>
                    <a:bodyPr/>
                    <a:lstStyle/>
                    <a:p>
                      <a:pPr algn="just" fontAlgn="ctr"/>
                      <a:r>
                        <a:rPr lang="es-MX" sz="2000" u="none" strike="noStrike" dirty="0">
                          <a:effectLst/>
                        </a:rPr>
                        <a:t>Utilizadas para medir la humedad y temperatura y que fueron conectadas a un CN-6000.</a:t>
                      </a:r>
                      <a:endParaRPr lang="es-CO" sz="20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1"/>
                  </a:ext>
                </a:extLst>
              </a:tr>
              <a:tr h="747929">
                <a:tc>
                  <a:txBody>
                    <a:bodyPr/>
                    <a:lstStyle/>
                    <a:p>
                      <a:pPr algn="just" fontAlgn="ctr"/>
                      <a:r>
                        <a:rPr lang="es-MX" sz="2000" u="none" strike="noStrike" dirty="0">
                          <a:effectLst/>
                        </a:rPr>
                        <a:t>Balanza Digital</a:t>
                      </a:r>
                      <a:endParaRPr lang="es-CO" sz="2000" b="0" i="0" u="none" strike="noStrike" dirty="0">
                        <a:solidFill>
                          <a:srgbClr val="000000"/>
                        </a:solidFill>
                        <a:effectLst/>
                        <a:latin typeface="LM Roman 12"/>
                      </a:endParaRPr>
                    </a:p>
                  </a:txBody>
                  <a:tcPr marL="9525" marR="9525" marT="9525" marB="0" anchor="ctr"/>
                </a:tc>
                <a:tc>
                  <a:txBody>
                    <a:bodyPr/>
                    <a:lstStyle/>
                    <a:p>
                      <a:pPr algn="just" fontAlgn="ctr"/>
                      <a:r>
                        <a:rPr lang="es-MX" sz="2000" u="none" strike="noStrike" dirty="0">
                          <a:effectLst/>
                        </a:rPr>
                        <a:t>Se utilizó para medir el peso real de la balanza.</a:t>
                      </a:r>
                      <a:endParaRPr lang="es-CO" sz="20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2"/>
                  </a:ext>
                </a:extLst>
              </a:tr>
              <a:tr h="1121893">
                <a:tc>
                  <a:txBody>
                    <a:bodyPr/>
                    <a:lstStyle/>
                    <a:p>
                      <a:pPr algn="just" fontAlgn="ctr"/>
                      <a:r>
                        <a:rPr lang="es-MX" sz="2000" u="none" strike="noStrike" dirty="0">
                          <a:effectLst/>
                        </a:rPr>
                        <a:t>Sensor de Flujo</a:t>
                      </a:r>
                      <a:endParaRPr lang="es-CO" sz="2000" b="0" i="0" u="none" strike="noStrike" dirty="0">
                        <a:solidFill>
                          <a:srgbClr val="000000"/>
                        </a:solidFill>
                        <a:effectLst/>
                        <a:latin typeface="LM Roman 12"/>
                      </a:endParaRPr>
                    </a:p>
                  </a:txBody>
                  <a:tcPr marL="9525" marR="9525" marT="9525" marB="0" anchor="ctr"/>
                </a:tc>
                <a:tc>
                  <a:txBody>
                    <a:bodyPr/>
                    <a:lstStyle/>
                    <a:p>
                      <a:pPr algn="just" fontAlgn="ctr"/>
                      <a:r>
                        <a:rPr lang="es-MX" sz="2000" u="none" strike="noStrike" dirty="0">
                          <a:effectLst/>
                        </a:rPr>
                        <a:t>Se utilizó para medir el flujo, la temperatura y la presión.</a:t>
                      </a:r>
                      <a:endParaRPr lang="es-CO" sz="20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30732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sz="quarter" idx="1"/>
          </p:nvPr>
        </p:nvSpPr>
        <p:spPr>
          <a:xfrm>
            <a:off x="457200" y="1219200"/>
            <a:ext cx="8229600" cy="553616"/>
          </a:xfrm>
        </p:spPr>
        <p:txBody>
          <a:bodyPr>
            <a:normAutofit fontScale="85000" lnSpcReduction="10000"/>
          </a:bodyPr>
          <a:lstStyle/>
          <a:p>
            <a:r>
              <a:rPr lang="es-CO" dirty="0"/>
              <a:t>Estructura de Interacción de los Instrumentos con la Aplicación</a:t>
            </a:r>
          </a:p>
        </p:txBody>
      </p:sp>
      <p:pic>
        <p:nvPicPr>
          <p:cNvPr id="6" name="5 Imagen"/>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0697" y="3984058"/>
            <a:ext cx="1471295" cy="1649730"/>
          </a:xfrm>
          <a:prstGeom prst="rect">
            <a:avLst/>
          </a:prstGeom>
          <a:noFill/>
          <a:ln>
            <a:noFill/>
          </a:ln>
        </p:spPr>
      </p:pic>
      <p:pic>
        <p:nvPicPr>
          <p:cNvPr id="7" name="6 Imagen"/>
          <p:cNvPicPr/>
          <p:nvPr/>
        </p:nvPicPr>
        <p:blipFill>
          <a:blip r:embed="rId3">
            <a:extLst>
              <a:ext uri="{28A0092B-C50C-407E-A947-70E740481C1C}">
                <a14:useLocalDpi xmlns:a14="http://schemas.microsoft.com/office/drawing/2010/main" val="0"/>
              </a:ext>
            </a:extLst>
          </a:blip>
          <a:srcRect/>
          <a:stretch>
            <a:fillRect/>
          </a:stretch>
        </p:blipFill>
        <p:spPr bwMode="auto">
          <a:xfrm>
            <a:off x="6969818" y="3789040"/>
            <a:ext cx="1449705" cy="1628140"/>
          </a:xfrm>
          <a:prstGeom prst="rect">
            <a:avLst/>
          </a:prstGeom>
          <a:noFill/>
          <a:ln>
            <a:noFill/>
          </a:ln>
        </p:spPr>
      </p:pic>
      <p:pic>
        <p:nvPicPr>
          <p:cNvPr id="8" name="7 Imagen"/>
          <p:cNvPicPr/>
          <p:nvPr/>
        </p:nvPicPr>
        <p:blipFill>
          <a:blip r:embed="rId4">
            <a:extLst>
              <a:ext uri="{28A0092B-C50C-407E-A947-70E740481C1C}">
                <a14:useLocalDpi xmlns:a14="http://schemas.microsoft.com/office/drawing/2010/main" val="0"/>
              </a:ext>
            </a:extLst>
          </a:blip>
          <a:srcRect/>
          <a:stretch>
            <a:fillRect/>
          </a:stretch>
        </p:blipFill>
        <p:spPr bwMode="auto">
          <a:xfrm>
            <a:off x="4139952" y="1780369"/>
            <a:ext cx="936338" cy="1080120"/>
          </a:xfrm>
          <a:prstGeom prst="rect">
            <a:avLst/>
          </a:prstGeom>
          <a:noFill/>
          <a:ln>
            <a:noFill/>
          </a:ln>
        </p:spPr>
      </p:pic>
      <p:pic>
        <p:nvPicPr>
          <p:cNvPr id="4098" name="Picture 2" descr="C:\Users\USER\Desktop\FOTO_1444774360.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14160" y="4077072"/>
            <a:ext cx="1843490" cy="1843490"/>
          </a:xfrm>
          <a:prstGeom prst="rect">
            <a:avLst/>
          </a:prstGeom>
          <a:noFill/>
          <a:extLst>
            <a:ext uri="{909E8E84-426E-40DD-AFC4-6F175D3DCCD1}">
              <a14:hiddenFill xmlns:a14="http://schemas.microsoft.com/office/drawing/2010/main">
                <a:solidFill>
                  <a:srgbClr val="FFFFFF"/>
                </a:solidFill>
              </a14:hiddenFill>
            </a:ext>
          </a:extLst>
        </p:spPr>
      </p:pic>
      <p:sp>
        <p:nvSpPr>
          <p:cNvPr id="10" name="9 Flecha derecha"/>
          <p:cNvSpPr/>
          <p:nvPr/>
        </p:nvSpPr>
        <p:spPr>
          <a:xfrm>
            <a:off x="2101992" y="4509120"/>
            <a:ext cx="1512168" cy="7920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11 Flecha derecha"/>
          <p:cNvSpPr/>
          <p:nvPr/>
        </p:nvSpPr>
        <p:spPr>
          <a:xfrm rot="5400000">
            <a:off x="3927613" y="3072737"/>
            <a:ext cx="1216583" cy="7920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12 Flecha derecha"/>
          <p:cNvSpPr/>
          <p:nvPr/>
        </p:nvSpPr>
        <p:spPr>
          <a:xfrm rot="10800000">
            <a:off x="5457650" y="4464632"/>
            <a:ext cx="1512168" cy="7920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986301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sz="quarter" idx="1"/>
          </p:nvPr>
        </p:nvSpPr>
        <p:spPr>
          <a:xfrm>
            <a:off x="457200" y="1219200"/>
            <a:ext cx="8229600" cy="553616"/>
          </a:xfrm>
        </p:spPr>
        <p:txBody>
          <a:bodyPr/>
          <a:lstStyle/>
          <a:p>
            <a:r>
              <a:rPr lang="es-CO" dirty="0"/>
              <a:t>Plataformas para la captura de datos de los instrumentos</a:t>
            </a:r>
          </a:p>
        </p:txBody>
      </p:sp>
      <p:graphicFrame>
        <p:nvGraphicFramePr>
          <p:cNvPr id="6" name="5 Tabla"/>
          <p:cNvGraphicFramePr>
            <a:graphicFrameLocks noGrp="1"/>
          </p:cNvGraphicFramePr>
          <p:nvPr>
            <p:extLst>
              <p:ext uri="{D42A27DB-BD31-4B8C-83A1-F6EECF244321}">
                <p14:modId xmlns:p14="http://schemas.microsoft.com/office/powerpoint/2010/main" val="3355037325"/>
              </p:ext>
            </p:extLst>
          </p:nvPr>
        </p:nvGraphicFramePr>
        <p:xfrm>
          <a:off x="908050" y="2108200"/>
          <a:ext cx="7327900" cy="3025140"/>
        </p:xfrm>
        <a:graphic>
          <a:graphicData uri="http://schemas.openxmlformats.org/drawingml/2006/table">
            <a:tbl>
              <a:tblPr>
                <a:tableStyleId>{9D7B26C5-4107-4FEC-AEDC-1716B250A1EF}</a:tableStyleId>
              </a:tblPr>
              <a:tblGrid>
                <a:gridCol w="1132984">
                  <a:extLst>
                    <a:ext uri="{9D8B030D-6E8A-4147-A177-3AD203B41FA5}">
                      <a16:colId xmlns:a16="http://schemas.microsoft.com/office/drawing/2014/main" val="20000"/>
                    </a:ext>
                  </a:extLst>
                </a:gridCol>
                <a:gridCol w="6194916">
                  <a:extLst>
                    <a:ext uri="{9D8B030D-6E8A-4147-A177-3AD203B41FA5}">
                      <a16:colId xmlns:a16="http://schemas.microsoft.com/office/drawing/2014/main" val="20001"/>
                    </a:ext>
                  </a:extLst>
                </a:gridCol>
              </a:tblGrid>
              <a:tr h="0">
                <a:tc>
                  <a:txBody>
                    <a:bodyPr/>
                    <a:lstStyle/>
                    <a:p>
                      <a:pPr algn="ctr" fontAlgn="ctr"/>
                      <a:r>
                        <a:rPr lang="es-MX" sz="1600" b="1" u="none" strike="noStrike" dirty="0">
                          <a:effectLst/>
                        </a:rPr>
                        <a:t>Plataforma</a:t>
                      </a:r>
                      <a:endParaRPr lang="es-CO" sz="1600" b="1" i="0" u="none" strike="noStrike" dirty="0">
                        <a:solidFill>
                          <a:srgbClr val="FFFFFF"/>
                        </a:solidFill>
                        <a:effectLst/>
                        <a:latin typeface="LM Roman 12"/>
                      </a:endParaRPr>
                    </a:p>
                  </a:txBody>
                  <a:tcPr marL="9525" marR="9525" marT="9525" marB="0" anchor="ctr"/>
                </a:tc>
                <a:tc>
                  <a:txBody>
                    <a:bodyPr/>
                    <a:lstStyle/>
                    <a:p>
                      <a:pPr algn="ctr" fontAlgn="ctr"/>
                      <a:r>
                        <a:rPr lang="es-MX" sz="1600" b="1" u="none" strike="noStrike" dirty="0">
                          <a:effectLst/>
                        </a:rPr>
                        <a:t>Descripción</a:t>
                      </a:r>
                      <a:endParaRPr lang="es-CO" sz="1600" b="1" i="0" u="none" strike="noStrike" dirty="0">
                        <a:solidFill>
                          <a:srgbClr val="FFFFFF"/>
                        </a:solidFill>
                        <a:effectLst/>
                        <a:latin typeface="LM Roman 12"/>
                      </a:endParaRPr>
                    </a:p>
                  </a:txBody>
                  <a:tcPr marL="9525" marR="9525" marT="9525" marB="0" anchor="ctr"/>
                </a:tc>
                <a:extLst>
                  <a:ext uri="{0D108BD9-81ED-4DB2-BD59-A6C34878D82A}">
                    <a16:rowId xmlns:a16="http://schemas.microsoft.com/office/drawing/2014/main" val="10000"/>
                  </a:ext>
                </a:extLst>
              </a:tr>
              <a:tr h="1438275">
                <a:tc>
                  <a:txBody>
                    <a:bodyPr/>
                    <a:lstStyle/>
                    <a:p>
                      <a:pPr algn="just" fontAlgn="ctr"/>
                      <a:r>
                        <a:rPr lang="es-MX" sz="1600" u="none" strike="noStrike" dirty="0">
                          <a:effectLst/>
                          <a:latin typeface="+mn-lt"/>
                        </a:rPr>
                        <a:t>Arduino</a:t>
                      </a:r>
                      <a:endParaRPr lang="es-CO" sz="1600" b="0" i="0" u="none" strike="noStrike" dirty="0">
                        <a:solidFill>
                          <a:srgbClr val="000000"/>
                        </a:solidFill>
                        <a:effectLst/>
                        <a:latin typeface="+mn-lt"/>
                      </a:endParaRPr>
                    </a:p>
                  </a:txBody>
                  <a:tcPr marL="9525" marR="9525" marT="9525" marB="0" anchor="ctr"/>
                </a:tc>
                <a:tc>
                  <a:txBody>
                    <a:bodyPr/>
                    <a:lstStyle/>
                    <a:p>
                      <a:pPr algn="just" fontAlgn="ctr"/>
                      <a:r>
                        <a:rPr lang="es-MX" sz="1600" u="none" strike="noStrike" dirty="0">
                          <a:effectLst/>
                          <a:latin typeface="+mn-lt"/>
                        </a:rPr>
                        <a:t>Se utilizó para el montaje de los sensores de humedad y temperatura: una vez conectado al computador por puerto USB se usó para la transmisión de datos al</a:t>
                      </a:r>
                      <a:r>
                        <a:rPr lang="es-MX" sz="1600" u="none" strike="noStrike" baseline="0" dirty="0">
                          <a:effectLst/>
                          <a:latin typeface="+mn-lt"/>
                        </a:rPr>
                        <a:t> equipo.</a:t>
                      </a:r>
                      <a:endParaRPr lang="es-CO" sz="16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0001"/>
                  </a:ext>
                </a:extLst>
              </a:tr>
              <a:tr h="1333500">
                <a:tc>
                  <a:txBody>
                    <a:bodyPr/>
                    <a:lstStyle/>
                    <a:p>
                      <a:pPr algn="just" fontAlgn="ctr"/>
                      <a:r>
                        <a:rPr lang="es-MX" sz="1600" u="none" strike="noStrike" dirty="0">
                          <a:effectLst/>
                          <a:latin typeface="+mn-lt"/>
                        </a:rPr>
                        <a:t>RS-232</a:t>
                      </a:r>
                      <a:endParaRPr lang="es-CO" sz="1600" b="0" i="0" u="none" strike="noStrike" dirty="0">
                        <a:solidFill>
                          <a:srgbClr val="000000"/>
                        </a:solidFill>
                        <a:effectLst/>
                        <a:latin typeface="+mn-lt"/>
                      </a:endParaRPr>
                    </a:p>
                  </a:txBody>
                  <a:tcPr marL="9525" marR="9525" marT="9525" marB="0" anchor="ctr"/>
                </a:tc>
                <a:tc>
                  <a:txBody>
                    <a:bodyPr/>
                    <a:lstStyle/>
                    <a:p>
                      <a:pPr algn="just" fontAlgn="ctr"/>
                      <a:r>
                        <a:rPr kumimoji="0" lang="es-MX" sz="1600" kern="1200" dirty="0">
                          <a:solidFill>
                            <a:schemeClr val="tx1"/>
                          </a:solidFill>
                          <a:effectLst/>
                          <a:latin typeface="+mn-lt"/>
                          <a:ea typeface="+mn-ea"/>
                          <a:cs typeface="+mn-cs"/>
                        </a:rPr>
                        <a:t>Es un puerto físico que trabaja como un emisor/receptor de datos</a:t>
                      </a:r>
                      <a:r>
                        <a:rPr lang="es-MX" sz="1600" u="none" strike="noStrike" dirty="0">
                          <a:effectLst/>
                          <a:latin typeface="+mn-lt"/>
                        </a:rPr>
                        <a:t>: aún existen muchos dispositivos que se conectan a través de esta interfaz, desde impresoras de tickets hasta lectores de códigos de barras.</a:t>
                      </a:r>
                      <a:endParaRPr lang="es-CO" sz="16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66903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2 Marcador de contenido"/>
          <p:cNvSpPr>
            <a:spLocks noGrp="1"/>
          </p:cNvSpPr>
          <p:nvPr>
            <p:ph sz="quarter" idx="1"/>
          </p:nvPr>
        </p:nvSpPr>
        <p:spPr>
          <a:xfrm>
            <a:off x="457200" y="1219200"/>
            <a:ext cx="8229600" cy="553616"/>
          </a:xfrm>
        </p:spPr>
        <p:txBody>
          <a:bodyPr/>
          <a:lstStyle/>
          <a:p>
            <a:r>
              <a:rPr lang="es-CO" dirty="0"/>
              <a:t>Variables Requeridas para el Proceso de Monitoreo</a:t>
            </a:r>
          </a:p>
        </p:txBody>
      </p:sp>
      <p:graphicFrame>
        <p:nvGraphicFramePr>
          <p:cNvPr id="7" name="6 Tabla"/>
          <p:cNvGraphicFramePr>
            <a:graphicFrameLocks noGrp="1"/>
          </p:cNvGraphicFramePr>
          <p:nvPr>
            <p:extLst>
              <p:ext uri="{D42A27DB-BD31-4B8C-83A1-F6EECF244321}">
                <p14:modId xmlns:p14="http://schemas.microsoft.com/office/powerpoint/2010/main" val="1232961391"/>
              </p:ext>
            </p:extLst>
          </p:nvPr>
        </p:nvGraphicFramePr>
        <p:xfrm>
          <a:off x="1043608" y="2235200"/>
          <a:ext cx="6768752" cy="2533650"/>
        </p:xfrm>
        <a:graphic>
          <a:graphicData uri="http://schemas.openxmlformats.org/drawingml/2006/table">
            <a:tbl>
              <a:tblPr>
                <a:tableStyleId>{9D7B26C5-4107-4FEC-AEDC-1716B250A1EF}</a:tableStyleId>
              </a:tblPr>
              <a:tblGrid>
                <a:gridCol w="3384376">
                  <a:extLst>
                    <a:ext uri="{9D8B030D-6E8A-4147-A177-3AD203B41FA5}">
                      <a16:colId xmlns:a16="http://schemas.microsoft.com/office/drawing/2014/main" val="20000"/>
                    </a:ext>
                  </a:extLst>
                </a:gridCol>
                <a:gridCol w="3384376">
                  <a:extLst>
                    <a:ext uri="{9D8B030D-6E8A-4147-A177-3AD203B41FA5}">
                      <a16:colId xmlns:a16="http://schemas.microsoft.com/office/drawing/2014/main" val="20001"/>
                    </a:ext>
                  </a:extLst>
                </a:gridCol>
              </a:tblGrid>
              <a:tr h="209550">
                <a:tc>
                  <a:txBody>
                    <a:bodyPr/>
                    <a:lstStyle/>
                    <a:p>
                      <a:pPr algn="ctr" fontAlgn="ctr"/>
                      <a:r>
                        <a:rPr lang="es-MX" sz="1600" b="1" u="none" strike="noStrike" dirty="0">
                          <a:effectLst/>
                        </a:rPr>
                        <a:t>Instrumento</a:t>
                      </a:r>
                      <a:endParaRPr lang="es-CO" sz="1600" b="1" i="0" u="none" strike="noStrike" dirty="0">
                        <a:solidFill>
                          <a:srgbClr val="000000"/>
                        </a:solidFill>
                        <a:effectLst/>
                        <a:latin typeface="LM Roman 12"/>
                      </a:endParaRPr>
                    </a:p>
                  </a:txBody>
                  <a:tcPr marL="9525" marR="9525" marT="9525" marB="0" anchor="ctr"/>
                </a:tc>
                <a:tc>
                  <a:txBody>
                    <a:bodyPr/>
                    <a:lstStyle/>
                    <a:p>
                      <a:pPr algn="ctr" fontAlgn="ctr"/>
                      <a:r>
                        <a:rPr lang="es-MX" sz="1600" b="1" u="none" strike="noStrike" dirty="0">
                          <a:effectLst/>
                        </a:rPr>
                        <a:t>Variables</a:t>
                      </a:r>
                      <a:endParaRPr lang="es-CO" sz="1600" b="1"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0"/>
                  </a:ext>
                </a:extLst>
              </a:tr>
              <a:tr h="200025">
                <a:tc rowSpan="3">
                  <a:txBody>
                    <a:bodyPr/>
                    <a:lstStyle/>
                    <a:p>
                      <a:pPr algn="just" fontAlgn="ctr"/>
                      <a:r>
                        <a:rPr lang="es-MX" sz="1600" u="none" strike="noStrike" dirty="0">
                          <a:effectLst/>
                        </a:rPr>
                        <a:t>Termocuplas tipo K</a:t>
                      </a:r>
                      <a:endParaRPr lang="es-CO" sz="1600" b="0" i="0" u="none" strike="noStrike" dirty="0">
                        <a:solidFill>
                          <a:srgbClr val="000000"/>
                        </a:solidFill>
                        <a:effectLst/>
                        <a:latin typeface="LM Roman 12"/>
                      </a:endParaRPr>
                    </a:p>
                  </a:txBody>
                  <a:tcPr marL="9525" marR="9525" marT="9525" marB="0" anchor="ctr"/>
                </a:tc>
                <a:tc>
                  <a:txBody>
                    <a:bodyPr/>
                    <a:lstStyle/>
                    <a:p>
                      <a:pPr algn="just" fontAlgn="ctr"/>
                      <a:r>
                        <a:rPr lang="es-CO" sz="1600" u="none" strike="noStrike">
                          <a:effectLst/>
                        </a:rPr>
                        <a:t>·      Temperatura – Termocupla 1.</a:t>
                      </a:r>
                      <a:endParaRPr lang="es-CO" sz="1600" b="0" i="0" u="none" strike="noStrike">
                        <a:solidFill>
                          <a:srgbClr val="000000"/>
                        </a:solidFill>
                        <a:effectLst/>
                        <a:latin typeface="Symbol"/>
                      </a:endParaRPr>
                    </a:p>
                  </a:txBody>
                  <a:tcPr marL="9525" marR="9525" marT="9525" marB="0" anchor="ctr"/>
                </a:tc>
                <a:extLst>
                  <a:ext uri="{0D108BD9-81ED-4DB2-BD59-A6C34878D82A}">
                    <a16:rowId xmlns:a16="http://schemas.microsoft.com/office/drawing/2014/main" val="10001"/>
                  </a:ext>
                </a:extLst>
              </a:tr>
              <a:tr h="200025">
                <a:tc vMerge="1">
                  <a:txBody>
                    <a:bodyPr/>
                    <a:lstStyle/>
                    <a:p>
                      <a:endParaRPr lang="es-CO"/>
                    </a:p>
                  </a:txBody>
                  <a:tcPr/>
                </a:tc>
                <a:tc>
                  <a:txBody>
                    <a:bodyPr/>
                    <a:lstStyle/>
                    <a:p>
                      <a:pPr algn="just" fontAlgn="ctr"/>
                      <a:r>
                        <a:rPr lang="es-CO" sz="1600" u="none" strike="noStrike">
                          <a:effectLst/>
                        </a:rPr>
                        <a:t>·      Temperatura – Termocupla 2.</a:t>
                      </a:r>
                      <a:endParaRPr lang="es-CO" sz="1600" b="0" i="0" u="none" strike="noStrike">
                        <a:solidFill>
                          <a:srgbClr val="000000"/>
                        </a:solidFill>
                        <a:effectLst/>
                        <a:latin typeface="Symbol"/>
                      </a:endParaRPr>
                    </a:p>
                  </a:txBody>
                  <a:tcPr marL="9525" marR="9525" marT="9525" marB="0" anchor="ctr"/>
                </a:tc>
                <a:extLst>
                  <a:ext uri="{0D108BD9-81ED-4DB2-BD59-A6C34878D82A}">
                    <a16:rowId xmlns:a16="http://schemas.microsoft.com/office/drawing/2014/main" val="10002"/>
                  </a:ext>
                </a:extLst>
              </a:tr>
              <a:tr h="209550">
                <a:tc vMerge="1">
                  <a:txBody>
                    <a:bodyPr/>
                    <a:lstStyle/>
                    <a:p>
                      <a:endParaRPr lang="es-CO"/>
                    </a:p>
                  </a:txBody>
                  <a:tcPr/>
                </a:tc>
                <a:tc>
                  <a:txBody>
                    <a:bodyPr/>
                    <a:lstStyle/>
                    <a:p>
                      <a:pPr algn="just" fontAlgn="ctr"/>
                      <a:r>
                        <a:rPr lang="es-CO" sz="1600" u="none" strike="noStrike">
                          <a:effectLst/>
                        </a:rPr>
                        <a:t>·      Sensor de Humedad.</a:t>
                      </a:r>
                      <a:endParaRPr lang="es-CO" sz="1600" b="0" i="0" u="none" strike="noStrike">
                        <a:solidFill>
                          <a:srgbClr val="000000"/>
                        </a:solidFill>
                        <a:effectLst/>
                        <a:latin typeface="Symbol"/>
                      </a:endParaRPr>
                    </a:p>
                  </a:txBody>
                  <a:tcPr marL="9525" marR="9525" marT="9525" marB="0" anchor="ctr"/>
                </a:tc>
                <a:extLst>
                  <a:ext uri="{0D108BD9-81ED-4DB2-BD59-A6C34878D82A}">
                    <a16:rowId xmlns:a16="http://schemas.microsoft.com/office/drawing/2014/main" val="10003"/>
                  </a:ext>
                </a:extLst>
              </a:tr>
              <a:tr h="209550">
                <a:tc>
                  <a:txBody>
                    <a:bodyPr/>
                    <a:lstStyle/>
                    <a:p>
                      <a:pPr algn="just" fontAlgn="ctr"/>
                      <a:r>
                        <a:rPr lang="es-MX" sz="1600" u="none" strike="noStrike" dirty="0">
                          <a:effectLst/>
                        </a:rPr>
                        <a:t>Balanza Digital</a:t>
                      </a:r>
                      <a:endParaRPr lang="es-CO" sz="1600" b="0" i="0" u="none" strike="noStrike" dirty="0">
                        <a:solidFill>
                          <a:srgbClr val="000000"/>
                        </a:solidFill>
                        <a:effectLst/>
                        <a:latin typeface="LM Roman 12"/>
                      </a:endParaRPr>
                    </a:p>
                  </a:txBody>
                  <a:tcPr marL="9525" marR="9525" marT="9525" marB="0" anchor="ctr"/>
                </a:tc>
                <a:tc>
                  <a:txBody>
                    <a:bodyPr/>
                    <a:lstStyle/>
                    <a:p>
                      <a:pPr algn="just" fontAlgn="ctr"/>
                      <a:r>
                        <a:rPr lang="es-CO" sz="1600" u="none" strike="noStrike" dirty="0">
                          <a:effectLst/>
                        </a:rPr>
                        <a:t>·      Peso.</a:t>
                      </a:r>
                      <a:endParaRPr lang="es-CO" sz="1600" b="0" i="0" u="none" strike="noStrike" dirty="0">
                        <a:solidFill>
                          <a:srgbClr val="000000"/>
                        </a:solidFill>
                        <a:effectLst/>
                        <a:latin typeface="Symbol"/>
                      </a:endParaRPr>
                    </a:p>
                  </a:txBody>
                  <a:tcPr marL="9525" marR="9525" marT="9525" marB="0" anchor="ctr"/>
                </a:tc>
                <a:extLst>
                  <a:ext uri="{0D108BD9-81ED-4DB2-BD59-A6C34878D82A}">
                    <a16:rowId xmlns:a16="http://schemas.microsoft.com/office/drawing/2014/main" val="10004"/>
                  </a:ext>
                </a:extLst>
              </a:tr>
              <a:tr h="200025">
                <a:tc rowSpan="5">
                  <a:txBody>
                    <a:bodyPr/>
                    <a:lstStyle/>
                    <a:p>
                      <a:pPr algn="just" fontAlgn="ctr"/>
                      <a:r>
                        <a:rPr lang="es-MX" sz="1600" u="none" strike="noStrike" dirty="0">
                          <a:effectLst/>
                        </a:rPr>
                        <a:t>Sensor de Flujo</a:t>
                      </a:r>
                      <a:endParaRPr lang="es-CO" sz="1600" b="0" i="0" u="none" strike="noStrike" dirty="0">
                        <a:solidFill>
                          <a:srgbClr val="000000"/>
                        </a:solidFill>
                        <a:effectLst/>
                        <a:latin typeface="LM Roman 12"/>
                      </a:endParaRPr>
                    </a:p>
                  </a:txBody>
                  <a:tcPr marL="9525" marR="9525" marT="9525" marB="0" anchor="ctr"/>
                </a:tc>
                <a:tc>
                  <a:txBody>
                    <a:bodyPr/>
                    <a:lstStyle/>
                    <a:p>
                      <a:pPr algn="just" fontAlgn="ctr"/>
                      <a:r>
                        <a:rPr lang="es-CO" sz="1600" u="none" strike="noStrike">
                          <a:effectLst/>
                        </a:rPr>
                        <a:t>·      Presión PSIA.</a:t>
                      </a:r>
                      <a:endParaRPr lang="es-CO" sz="1600" b="0" i="0" u="none" strike="noStrike">
                        <a:solidFill>
                          <a:srgbClr val="000000"/>
                        </a:solidFill>
                        <a:effectLst/>
                        <a:latin typeface="Symbol"/>
                      </a:endParaRPr>
                    </a:p>
                  </a:txBody>
                  <a:tcPr marL="9525" marR="9525" marT="9525" marB="0" anchor="ctr"/>
                </a:tc>
                <a:extLst>
                  <a:ext uri="{0D108BD9-81ED-4DB2-BD59-A6C34878D82A}">
                    <a16:rowId xmlns:a16="http://schemas.microsoft.com/office/drawing/2014/main" val="10005"/>
                  </a:ext>
                </a:extLst>
              </a:tr>
              <a:tr h="200025">
                <a:tc vMerge="1">
                  <a:txBody>
                    <a:bodyPr/>
                    <a:lstStyle/>
                    <a:p>
                      <a:endParaRPr lang="es-CO"/>
                    </a:p>
                  </a:txBody>
                  <a:tcPr/>
                </a:tc>
                <a:tc>
                  <a:txBody>
                    <a:bodyPr/>
                    <a:lstStyle/>
                    <a:p>
                      <a:pPr algn="just" fontAlgn="ctr"/>
                      <a:r>
                        <a:rPr lang="es-CO" sz="1600" u="none" strike="noStrike" dirty="0">
                          <a:effectLst/>
                        </a:rPr>
                        <a:t>·      Temperatura (C).</a:t>
                      </a:r>
                      <a:endParaRPr lang="es-CO" sz="1600" b="0" i="0" u="none" strike="noStrike" dirty="0">
                        <a:solidFill>
                          <a:srgbClr val="000000"/>
                        </a:solidFill>
                        <a:effectLst/>
                        <a:latin typeface="Symbol"/>
                      </a:endParaRPr>
                    </a:p>
                  </a:txBody>
                  <a:tcPr marL="9525" marR="9525" marT="9525" marB="0" anchor="ctr"/>
                </a:tc>
                <a:extLst>
                  <a:ext uri="{0D108BD9-81ED-4DB2-BD59-A6C34878D82A}">
                    <a16:rowId xmlns:a16="http://schemas.microsoft.com/office/drawing/2014/main" val="10006"/>
                  </a:ext>
                </a:extLst>
              </a:tr>
              <a:tr h="200025">
                <a:tc vMerge="1">
                  <a:txBody>
                    <a:bodyPr/>
                    <a:lstStyle/>
                    <a:p>
                      <a:endParaRPr lang="es-CO"/>
                    </a:p>
                  </a:txBody>
                  <a:tcPr/>
                </a:tc>
                <a:tc>
                  <a:txBody>
                    <a:bodyPr/>
                    <a:lstStyle/>
                    <a:p>
                      <a:pPr algn="just" fontAlgn="ctr"/>
                      <a:r>
                        <a:rPr lang="es-CO" sz="1600" u="none" strike="noStrike" dirty="0">
                          <a:effectLst/>
                        </a:rPr>
                        <a:t>·      SETPT.</a:t>
                      </a:r>
                      <a:endParaRPr lang="es-CO" sz="1600" b="0" i="0" u="none" strike="noStrike" dirty="0">
                        <a:solidFill>
                          <a:srgbClr val="000000"/>
                        </a:solidFill>
                        <a:effectLst/>
                        <a:latin typeface="Symbol"/>
                      </a:endParaRPr>
                    </a:p>
                  </a:txBody>
                  <a:tcPr marL="9525" marR="9525" marT="9525" marB="0" anchor="ctr"/>
                </a:tc>
                <a:extLst>
                  <a:ext uri="{0D108BD9-81ED-4DB2-BD59-A6C34878D82A}">
                    <a16:rowId xmlns:a16="http://schemas.microsoft.com/office/drawing/2014/main" val="10007"/>
                  </a:ext>
                </a:extLst>
              </a:tr>
              <a:tr h="200025">
                <a:tc vMerge="1">
                  <a:txBody>
                    <a:bodyPr/>
                    <a:lstStyle/>
                    <a:p>
                      <a:endParaRPr lang="es-CO"/>
                    </a:p>
                  </a:txBody>
                  <a:tcPr/>
                </a:tc>
                <a:tc>
                  <a:txBody>
                    <a:bodyPr/>
                    <a:lstStyle/>
                    <a:p>
                      <a:pPr algn="just" fontAlgn="ctr"/>
                      <a:r>
                        <a:rPr lang="es-CO" sz="1600" u="none" strike="noStrike" dirty="0">
                          <a:effectLst/>
                        </a:rPr>
                        <a:t>·      LPM.</a:t>
                      </a:r>
                      <a:endParaRPr lang="es-CO" sz="1600" b="0" i="0" u="none" strike="noStrike" dirty="0">
                        <a:solidFill>
                          <a:srgbClr val="000000"/>
                        </a:solidFill>
                        <a:effectLst/>
                        <a:latin typeface="Symbol"/>
                      </a:endParaRPr>
                    </a:p>
                  </a:txBody>
                  <a:tcPr marL="9525" marR="9525" marT="9525" marB="0" anchor="ctr"/>
                </a:tc>
                <a:extLst>
                  <a:ext uri="{0D108BD9-81ED-4DB2-BD59-A6C34878D82A}">
                    <a16:rowId xmlns:a16="http://schemas.microsoft.com/office/drawing/2014/main" val="10008"/>
                  </a:ext>
                </a:extLst>
              </a:tr>
              <a:tr h="209550">
                <a:tc vMerge="1">
                  <a:txBody>
                    <a:bodyPr/>
                    <a:lstStyle/>
                    <a:p>
                      <a:endParaRPr lang="es-CO"/>
                    </a:p>
                  </a:txBody>
                  <a:tcPr/>
                </a:tc>
                <a:tc>
                  <a:txBody>
                    <a:bodyPr/>
                    <a:lstStyle/>
                    <a:p>
                      <a:pPr algn="just" fontAlgn="ctr"/>
                      <a:r>
                        <a:rPr lang="es-CO" sz="1600" u="none" strike="noStrike" dirty="0">
                          <a:effectLst/>
                        </a:rPr>
                        <a:t>·      SLPM.</a:t>
                      </a:r>
                      <a:endParaRPr lang="es-CO" sz="1600" b="0" i="0" u="none" strike="noStrike" dirty="0">
                        <a:solidFill>
                          <a:srgbClr val="000000"/>
                        </a:solidFill>
                        <a:effectLst/>
                        <a:latin typeface="Symbol"/>
                      </a:endParaRPr>
                    </a:p>
                  </a:txBody>
                  <a:tcPr marL="9525" marR="9525" marT="9525" marB="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780844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1 Título"/>
          <p:cNvSpPr>
            <a:spLocks noGrp="1"/>
          </p:cNvSpPr>
          <p:nvPr>
            <p:ph type="title"/>
          </p:nvPr>
        </p:nvSpPr>
        <p:spPr>
          <a:xfrm>
            <a:off x="457200" y="152400"/>
            <a:ext cx="8229600" cy="990600"/>
          </a:xfrm>
        </p:spPr>
        <p:txBody>
          <a:bodyPr/>
          <a:lstStyle/>
          <a:p>
            <a:r>
              <a:rPr lang="es-CO" dirty="0"/>
              <a:t>Toma de Datos desde Arduino</a:t>
            </a:r>
          </a:p>
        </p:txBody>
      </p:sp>
      <p:sp>
        <p:nvSpPr>
          <p:cNvPr id="7" name="2 Marcador de contenido"/>
          <p:cNvSpPr>
            <a:spLocks noGrp="1"/>
          </p:cNvSpPr>
          <p:nvPr>
            <p:ph sz="quarter" idx="1"/>
          </p:nvPr>
        </p:nvSpPr>
        <p:spPr>
          <a:xfrm>
            <a:off x="457200" y="1363216"/>
            <a:ext cx="8003232" cy="4658072"/>
          </a:xfrm>
        </p:spPr>
        <p:txBody>
          <a:bodyPr>
            <a:normAutofit/>
          </a:bodyPr>
          <a:lstStyle/>
          <a:p>
            <a:pPr algn="just"/>
            <a:r>
              <a:rPr lang="es-CO" dirty="0"/>
              <a:t>Para lograr la toma de información de datos por Arduino se implementó:</a:t>
            </a:r>
          </a:p>
          <a:p>
            <a:pPr marL="731520" lvl="1" indent="-457200" algn="just">
              <a:buFont typeface="+mj-lt"/>
              <a:buAutoNum type="arabicPeriod"/>
            </a:pPr>
            <a:r>
              <a:rPr lang="es-CO" dirty="0"/>
              <a:t>Un circuito con sensores de humedad y temperatura que toman datos del ambiente.</a:t>
            </a:r>
          </a:p>
          <a:p>
            <a:pPr marL="731520" lvl="1" indent="-457200" algn="just">
              <a:buFont typeface="+mj-lt"/>
              <a:buAutoNum type="arabicPeriod"/>
            </a:pPr>
            <a:r>
              <a:rPr lang="es-CO" dirty="0"/>
              <a:t>Un algoritmo para poder tomar datos de sensores reales de humedad y temperatura de las Termocuplas.  Después de validar los datos, los genera de manera ininterrumpida. </a:t>
            </a:r>
          </a:p>
          <a:p>
            <a:pPr algn="just"/>
            <a:endParaRPr lang="es-CO" dirty="0"/>
          </a:p>
        </p:txBody>
      </p:sp>
    </p:spTree>
    <p:extLst>
      <p:ext uri="{BB962C8B-B14F-4D97-AF65-F5344CB8AC3E}">
        <p14:creationId xmlns:p14="http://schemas.microsoft.com/office/powerpoint/2010/main" val="1457983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a:t>Paso de datos propuesto desde Arduino a la Aplicación Visual</a:t>
            </a:r>
          </a:p>
        </p:txBody>
      </p:sp>
      <p:pic>
        <p:nvPicPr>
          <p:cNvPr id="4" name="3 Marcador de contenido" descr="C:\Users\DiegoAmaya\Desktop\ardu.png"/>
          <p:cNvPicPr>
            <a:picLocks noGrp="1"/>
          </p:cNvPicPr>
          <p:nvPr>
            <p:ph sz="quarter" idx="1"/>
          </p:nvPr>
        </p:nvPicPr>
        <p:blipFill>
          <a:blip r:embed="rId2" cstate="print"/>
          <a:srcRect/>
          <a:stretch>
            <a:fillRect/>
          </a:stretch>
        </p:blipFill>
        <p:spPr bwMode="auto">
          <a:xfrm>
            <a:off x="1795809" y="1583000"/>
            <a:ext cx="5552381" cy="4209524"/>
          </a:xfrm>
          <a:prstGeom prst="rect">
            <a:avLst/>
          </a:prstGeom>
          <a:noFill/>
          <a:ln w="9525">
            <a:noFill/>
            <a:miter lim="800000"/>
            <a:headEnd/>
            <a:tailEnd/>
          </a:ln>
        </p:spPr>
      </p:pic>
    </p:spTree>
    <p:extLst>
      <p:ext uri="{BB962C8B-B14F-4D97-AF65-F5344CB8AC3E}">
        <p14:creationId xmlns:p14="http://schemas.microsoft.com/office/powerpoint/2010/main" val="778521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sz="quarter" idx="1"/>
          </p:nvPr>
        </p:nvSpPr>
        <p:spPr>
          <a:xfrm>
            <a:off x="457200" y="1219200"/>
            <a:ext cx="8229600" cy="553616"/>
          </a:xfrm>
        </p:spPr>
        <p:txBody>
          <a:bodyPr/>
          <a:lstStyle/>
          <a:p>
            <a:r>
              <a:rPr lang="es-CO" dirty="0"/>
              <a:t>Ajustes en la fórmulas de humedad y temperatura</a:t>
            </a:r>
          </a:p>
        </p:txBody>
      </p:sp>
      <p:pic>
        <p:nvPicPr>
          <p:cNvPr id="6" name="Picture 5" descr="C:\Users\USER\Desktop\FOTO_144467339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132856"/>
            <a:ext cx="7595364" cy="3542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371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a:t>Implementación de Programa en Arduino para toma de datos.</a:t>
            </a:r>
          </a:p>
        </p:txBody>
      </p:sp>
      <p:pic>
        <p:nvPicPr>
          <p:cNvPr id="4" name="3 Marcador de contenido" descr="https://lh3.googleusercontent.com/nwnTDEu1m7Hnl5Z4NYFhZcv-QXHYeyLoFvQvS_0IYe9YUQCBhl-oad4kHq8Azg8U40S47EqiIRu4Y6ZAxHgusWWjBbhCIPQrnZJynkR540RglMG-rk4xFkyAGrrUX9hWbeykvow9cv1gTRlw"/>
          <p:cNvPicPr>
            <a:picLocks noGrp="1"/>
          </p:cNvPicPr>
          <p:nvPr>
            <p:ph sz="quarter" idx="1"/>
          </p:nvPr>
        </p:nvPicPr>
        <p:blipFill>
          <a:blip r:embed="rId2" cstate="print"/>
          <a:srcRect/>
          <a:stretch>
            <a:fillRect/>
          </a:stretch>
        </p:blipFill>
        <p:spPr bwMode="auto">
          <a:xfrm>
            <a:off x="457200" y="1499039"/>
            <a:ext cx="8229600" cy="4377446"/>
          </a:xfrm>
          <a:prstGeom prst="rect">
            <a:avLst/>
          </a:prstGeom>
          <a:noFill/>
          <a:ln w="9525">
            <a:noFill/>
            <a:miter lim="800000"/>
            <a:headEnd/>
            <a:tailEnd/>
          </a:ln>
        </p:spPr>
      </p:pic>
    </p:spTree>
    <p:extLst>
      <p:ext uri="{BB962C8B-B14F-4D97-AF65-F5344CB8AC3E}">
        <p14:creationId xmlns:p14="http://schemas.microsoft.com/office/powerpoint/2010/main" val="686583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Toma de Datos por Comunicación Serial</a:t>
            </a:r>
          </a:p>
        </p:txBody>
      </p:sp>
      <p:sp>
        <p:nvSpPr>
          <p:cNvPr id="3" name="2 Marcador de contenido"/>
          <p:cNvSpPr>
            <a:spLocks noGrp="1"/>
          </p:cNvSpPr>
          <p:nvPr>
            <p:ph sz="quarter" idx="1"/>
          </p:nvPr>
        </p:nvSpPr>
        <p:spPr>
          <a:xfrm>
            <a:off x="457200" y="1363216"/>
            <a:ext cx="8003232" cy="4658072"/>
          </a:xfrm>
        </p:spPr>
        <p:txBody>
          <a:bodyPr>
            <a:normAutofit fontScale="92500" lnSpcReduction="10000"/>
          </a:bodyPr>
          <a:lstStyle/>
          <a:p>
            <a:pPr algn="just"/>
            <a:r>
              <a:rPr lang="es-CO" dirty="0"/>
              <a:t>Para lograr la toma de información de datos por puerto serial se requiere llevar a cabo un proceso de comunicación serial con el instrumento. Para ello se debe llevar a cabo el siguiente algoritmo.</a:t>
            </a:r>
          </a:p>
          <a:p>
            <a:pPr marL="731520" lvl="1" indent="-457200" algn="just">
              <a:buFont typeface="+mj-lt"/>
              <a:buAutoNum type="arabicPeriod"/>
            </a:pPr>
            <a:r>
              <a:rPr lang="es-CO" dirty="0"/>
              <a:t>Realizar una búsqueda de los puertos seriales y guardarlos en una lista.</a:t>
            </a:r>
          </a:p>
          <a:p>
            <a:pPr marL="731520" lvl="1" indent="-457200" algn="just">
              <a:buFont typeface="+mj-lt"/>
              <a:buAutoNum type="arabicPeriod"/>
            </a:pPr>
            <a:r>
              <a:rPr lang="es-CO" dirty="0"/>
              <a:t>Definir los parámetros de conexión.</a:t>
            </a:r>
          </a:p>
          <a:p>
            <a:pPr marL="731520" lvl="1" indent="-457200" algn="just">
              <a:buFont typeface="+mj-lt"/>
              <a:buAutoNum type="arabicPeriod"/>
            </a:pPr>
            <a:r>
              <a:rPr lang="es-CO" dirty="0"/>
              <a:t>Conectarse a un puerto serial (el que seleccione).</a:t>
            </a:r>
          </a:p>
          <a:p>
            <a:pPr marL="731520" lvl="1" indent="-457200" algn="just">
              <a:buFont typeface="+mj-lt"/>
              <a:buAutoNum type="arabicPeriod"/>
            </a:pPr>
            <a:r>
              <a:rPr lang="es-CO" dirty="0"/>
              <a:t>Inicializar los flujos de entrada y salida.</a:t>
            </a:r>
          </a:p>
          <a:p>
            <a:pPr marL="731520" lvl="1" indent="-457200" algn="just">
              <a:buFont typeface="+mj-lt"/>
              <a:buAutoNum type="arabicPeriod"/>
            </a:pPr>
            <a:r>
              <a:rPr lang="es-CO" dirty="0"/>
              <a:t>Adicionar un evento oyente (listener) para que reciba los datos.</a:t>
            </a:r>
          </a:p>
          <a:p>
            <a:pPr marL="731520" lvl="1" indent="-457200" algn="just">
              <a:buFont typeface="+mj-lt"/>
              <a:buAutoNum type="arabicPeriod"/>
            </a:pPr>
            <a:r>
              <a:rPr lang="es-CO" dirty="0"/>
              <a:t>Desconectarse del puerto serial.</a:t>
            </a:r>
          </a:p>
          <a:p>
            <a:pPr marL="731520" lvl="1" indent="-457200" algn="just">
              <a:buFont typeface="+mj-lt"/>
              <a:buAutoNum type="arabicPeriod"/>
            </a:pPr>
            <a:r>
              <a:rPr lang="es-CO" dirty="0"/>
              <a:t>Enviar y/o recibir los datos.</a:t>
            </a:r>
          </a:p>
          <a:p>
            <a:pPr marL="731520" lvl="1" indent="-457200" algn="just">
              <a:buFont typeface="+mj-lt"/>
              <a:buAutoNum type="arabicPeriod"/>
            </a:pPr>
            <a:r>
              <a:rPr lang="es-CO" dirty="0"/>
              <a:t>Cerrar el puerto.</a:t>
            </a:r>
          </a:p>
          <a:p>
            <a:pPr algn="just"/>
            <a:endParaRPr lang="es-CO" dirty="0"/>
          </a:p>
        </p:txBody>
      </p:sp>
    </p:spTree>
    <p:extLst>
      <p:ext uri="{BB962C8B-B14F-4D97-AF65-F5344CB8AC3E}">
        <p14:creationId xmlns:p14="http://schemas.microsoft.com/office/powerpoint/2010/main" val="705557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457200" y="152400"/>
            <a:ext cx="8229600" cy="990600"/>
          </a:xfrm>
        </p:spPr>
        <p:txBody>
          <a:bodyPr/>
          <a:lstStyle/>
          <a:p>
            <a:r>
              <a:rPr lang="es-CO" dirty="0"/>
              <a:t>Parámetros de Comunicación Serial</a:t>
            </a:r>
          </a:p>
        </p:txBody>
      </p:sp>
      <p:sp>
        <p:nvSpPr>
          <p:cNvPr id="5" name="2 Marcador de contenido"/>
          <p:cNvSpPr>
            <a:spLocks noGrp="1"/>
          </p:cNvSpPr>
          <p:nvPr>
            <p:ph sz="quarter" idx="1"/>
          </p:nvPr>
        </p:nvSpPr>
        <p:spPr>
          <a:xfrm>
            <a:off x="457200" y="1363216"/>
            <a:ext cx="8003232" cy="2785864"/>
          </a:xfrm>
        </p:spPr>
        <p:txBody>
          <a:bodyPr>
            <a:normAutofit/>
          </a:bodyPr>
          <a:lstStyle/>
          <a:p>
            <a:pPr algn="just"/>
            <a:r>
              <a:rPr lang="es-CO" b="1" dirty="0"/>
              <a:t>Velocidad: </a:t>
            </a:r>
            <a:r>
              <a:rPr lang="es-CO" dirty="0"/>
              <a:t>Cantidad de bits por segundo.</a:t>
            </a:r>
          </a:p>
          <a:p>
            <a:pPr algn="just"/>
            <a:r>
              <a:rPr lang="es-CO" b="1" dirty="0"/>
              <a:t>Paridad: </a:t>
            </a:r>
            <a:r>
              <a:rPr lang="es-CO" dirty="0"/>
              <a:t>Mecanismo usado para controlar si hay inconsistencias o errores en los datos enviados.</a:t>
            </a:r>
          </a:p>
          <a:p>
            <a:pPr algn="just"/>
            <a:r>
              <a:rPr lang="es-CO" b="1" dirty="0"/>
              <a:t>Bit de parada: </a:t>
            </a:r>
            <a:r>
              <a:rPr lang="es-CO" dirty="0"/>
              <a:t>Indica cuando una trama se termina.</a:t>
            </a:r>
          </a:p>
          <a:p>
            <a:pPr algn="just"/>
            <a:r>
              <a:rPr lang="es-CO" b="1" dirty="0"/>
              <a:t>Control de flujo: </a:t>
            </a:r>
            <a:r>
              <a:rPr lang="es-CO" dirty="0"/>
              <a:t>Mecanismo que controla el envío desde y hacia el puerto serial.</a:t>
            </a:r>
          </a:p>
          <a:p>
            <a:pPr algn="just"/>
            <a:endParaRPr lang="es-CO" dirty="0"/>
          </a:p>
        </p:txBody>
      </p:sp>
      <p:pic>
        <p:nvPicPr>
          <p:cNvPr id="5122" name="Picture 2" descr="C:\Users\USER\Desktop\FOTO_144480037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4221088"/>
            <a:ext cx="5493643" cy="1855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4791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a:t>Manejo de Tramas – Comunicación Serial</a:t>
            </a:r>
          </a:p>
        </p:txBody>
      </p:sp>
      <p:pic>
        <p:nvPicPr>
          <p:cNvPr id="4" name="Picture 2" descr="C:\Users\USER\Desktop\FOTO_1444778616.jp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395412" y="1949450"/>
            <a:ext cx="6353175" cy="3476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5222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Ejemplo de Comunicación Serial RS232</a:t>
            </a:r>
          </a:p>
        </p:txBody>
      </p:sp>
      <p:pic>
        <p:nvPicPr>
          <p:cNvPr id="4" name="3 Imagen" descr="C:\Users\DiegoAmaya\Desktop\datos_ht_flujo_masico.png"/>
          <p:cNvPicPr/>
          <p:nvPr/>
        </p:nvPicPr>
        <p:blipFill>
          <a:blip r:embed="rId2" cstate="print"/>
          <a:srcRect/>
          <a:stretch>
            <a:fillRect/>
          </a:stretch>
        </p:blipFill>
        <p:spPr bwMode="auto">
          <a:xfrm>
            <a:off x="712169" y="1340768"/>
            <a:ext cx="3096344" cy="2183086"/>
          </a:xfrm>
          <a:prstGeom prst="rect">
            <a:avLst/>
          </a:prstGeom>
          <a:noFill/>
          <a:ln w="9525">
            <a:noFill/>
            <a:miter lim="800000"/>
            <a:headEnd/>
            <a:tailEnd/>
          </a:ln>
        </p:spPr>
      </p:pic>
      <p:pic>
        <p:nvPicPr>
          <p:cNvPr id="5" name="4 Imagen" descr="C:\Users\DiegoAmaya\Desktop\configuracion_fm.png"/>
          <p:cNvPicPr/>
          <p:nvPr/>
        </p:nvPicPr>
        <p:blipFill>
          <a:blip r:embed="rId3" cstate="print"/>
          <a:srcRect/>
          <a:stretch>
            <a:fillRect/>
          </a:stretch>
        </p:blipFill>
        <p:spPr bwMode="auto">
          <a:xfrm>
            <a:off x="5320680" y="1375612"/>
            <a:ext cx="2520280" cy="2148242"/>
          </a:xfrm>
          <a:prstGeom prst="rect">
            <a:avLst/>
          </a:prstGeom>
          <a:noFill/>
          <a:ln w="9525">
            <a:noFill/>
            <a:miter lim="800000"/>
            <a:headEnd/>
            <a:tailEnd/>
          </a:ln>
        </p:spPr>
      </p:pic>
      <p:pic>
        <p:nvPicPr>
          <p:cNvPr id="6" name="5 Imagen" descr="C:\Users\DiegoAmaya\Desktop\datos_flujo_masico_serial_ht.png"/>
          <p:cNvPicPr/>
          <p:nvPr/>
        </p:nvPicPr>
        <p:blipFill>
          <a:blip r:embed="rId4" cstate="print"/>
          <a:srcRect/>
          <a:stretch>
            <a:fillRect/>
          </a:stretch>
        </p:blipFill>
        <p:spPr bwMode="auto">
          <a:xfrm>
            <a:off x="5168448" y="4437114"/>
            <a:ext cx="2824743" cy="1825759"/>
          </a:xfrm>
          <a:prstGeom prst="rect">
            <a:avLst/>
          </a:prstGeom>
          <a:noFill/>
          <a:ln w="9525">
            <a:noFill/>
            <a:miter lim="800000"/>
            <a:headEnd/>
            <a:tailEnd/>
          </a:ln>
        </p:spPr>
      </p:pic>
      <p:sp>
        <p:nvSpPr>
          <p:cNvPr id="7" name="6 Flecha derecha"/>
          <p:cNvSpPr/>
          <p:nvPr/>
        </p:nvSpPr>
        <p:spPr>
          <a:xfrm>
            <a:off x="3808513" y="1988840"/>
            <a:ext cx="1512167" cy="86409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8" name="7 Flecha derecha"/>
          <p:cNvSpPr/>
          <p:nvPr/>
        </p:nvSpPr>
        <p:spPr>
          <a:xfrm rot="5400000">
            <a:off x="6180492" y="3384122"/>
            <a:ext cx="913259" cy="1192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58605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Ejemplo de Comunicación Serial - Java</a:t>
            </a:r>
          </a:p>
        </p:txBody>
      </p:sp>
      <p:pic>
        <p:nvPicPr>
          <p:cNvPr id="4" name="3 Marcador de contenido" descr="C:\Users\DiegoAmaya\Desktop\ejemplo_serial_port.png"/>
          <p:cNvPicPr>
            <a:picLocks noGrp="1"/>
          </p:cNvPicPr>
          <p:nvPr>
            <p:ph sz="quarter" idx="1"/>
          </p:nvPr>
        </p:nvPicPr>
        <p:blipFill>
          <a:blip r:embed="rId2" cstate="print"/>
          <a:srcRect/>
          <a:stretch>
            <a:fillRect/>
          </a:stretch>
        </p:blipFill>
        <p:spPr bwMode="auto">
          <a:xfrm>
            <a:off x="1397622" y="1219200"/>
            <a:ext cx="6486746" cy="5162128"/>
          </a:xfrm>
          <a:prstGeom prst="rect">
            <a:avLst/>
          </a:prstGeom>
          <a:noFill/>
          <a:ln w="9525">
            <a:noFill/>
            <a:miter lim="800000"/>
            <a:headEnd/>
            <a:tailEnd/>
          </a:ln>
        </p:spPr>
      </p:pic>
    </p:spTree>
    <p:extLst>
      <p:ext uri="{BB962C8B-B14F-4D97-AF65-F5344CB8AC3E}">
        <p14:creationId xmlns:p14="http://schemas.microsoft.com/office/powerpoint/2010/main" val="2809689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Gráficas de Monitoreo</a:t>
            </a:r>
          </a:p>
        </p:txBody>
      </p:sp>
      <p:sp>
        <p:nvSpPr>
          <p:cNvPr id="3" name="2 Marcador de contenido"/>
          <p:cNvSpPr>
            <a:spLocks noGrp="1"/>
          </p:cNvSpPr>
          <p:nvPr>
            <p:ph sz="quarter" idx="1"/>
          </p:nvPr>
        </p:nvSpPr>
        <p:spPr>
          <a:xfrm>
            <a:off x="457200" y="1219200"/>
            <a:ext cx="8229600" cy="2569840"/>
          </a:xfrm>
        </p:spPr>
        <p:txBody>
          <a:bodyPr/>
          <a:lstStyle/>
          <a:p>
            <a:pPr algn="just"/>
            <a:r>
              <a:rPr lang="es-CO" dirty="0"/>
              <a:t>Se implementaron diferentes tipos de gráficas poder monitorear en tiempo real todas las variables tomadas de un instrumento.</a:t>
            </a:r>
          </a:p>
          <a:p>
            <a:pPr algn="just"/>
            <a:r>
              <a:rPr lang="es-CO" dirty="0"/>
              <a:t>Para su implementación se utilizó la librería JFreeChart, la cual permite generar gráficas dinámicas e interactivas para un mayor control.</a:t>
            </a:r>
          </a:p>
          <a:p>
            <a:endParaRPr lang="es-CO" dirty="0"/>
          </a:p>
        </p:txBody>
      </p:sp>
      <p:pic>
        <p:nvPicPr>
          <p:cNvPr id="13314" name="Picture 2" descr="C:\Users\USER\Desktop\FOTO_144480432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088" y="3750862"/>
            <a:ext cx="3318892" cy="2489169"/>
          </a:xfrm>
          <a:prstGeom prst="rect">
            <a:avLst/>
          </a:prstGeom>
          <a:noFill/>
          <a:extLst>
            <a:ext uri="{909E8E84-426E-40DD-AFC4-6F175D3DCCD1}">
              <a14:hiddenFill xmlns:a14="http://schemas.microsoft.com/office/drawing/2010/main">
                <a:solidFill>
                  <a:srgbClr val="FFFFFF"/>
                </a:solidFill>
              </a14:hiddenFill>
            </a:ext>
          </a:extLst>
        </p:spPr>
      </p:pic>
      <p:pic>
        <p:nvPicPr>
          <p:cNvPr id="13315" name="Picture 3" descr="C:\Users\USER\Desktop\FOTO_144480436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4015933"/>
            <a:ext cx="3240360" cy="1946935"/>
          </a:xfrm>
          <a:prstGeom prst="rect">
            <a:avLst/>
          </a:prstGeom>
          <a:noFill/>
          <a:extLst>
            <a:ext uri="{909E8E84-426E-40DD-AFC4-6F175D3DCCD1}">
              <a14:hiddenFill xmlns:a14="http://schemas.microsoft.com/office/drawing/2010/main">
                <a:solidFill>
                  <a:srgbClr val="FFFFFF"/>
                </a:solidFill>
              </a14:hiddenFill>
            </a:ext>
          </a:extLst>
        </p:spPr>
      </p:pic>
      <p:sp>
        <p:nvSpPr>
          <p:cNvPr id="4" name="3 Flecha derecha"/>
          <p:cNvSpPr/>
          <p:nvPr/>
        </p:nvSpPr>
        <p:spPr>
          <a:xfrm>
            <a:off x="3923928" y="4581128"/>
            <a:ext cx="1296144" cy="7920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482908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Estructura de la Aplicación</a:t>
            </a:r>
          </a:p>
        </p:txBody>
      </p:sp>
      <p:pic>
        <p:nvPicPr>
          <p:cNvPr id="4" name="3 Marcador de contenido" descr="C:\Users\DiegoAmaya\Desktop\Diagrama1.jpeg"/>
          <p:cNvPicPr>
            <a:picLocks noGrp="1"/>
          </p:cNvPicPr>
          <p:nvPr>
            <p:ph sz="quarter" idx="1"/>
          </p:nvPr>
        </p:nvPicPr>
        <p:blipFill>
          <a:blip r:embed="rId2" cstate="print"/>
          <a:srcRect/>
          <a:stretch>
            <a:fillRect/>
          </a:stretch>
        </p:blipFill>
        <p:spPr bwMode="auto">
          <a:xfrm>
            <a:off x="1247775" y="1863725"/>
            <a:ext cx="6648450" cy="3648075"/>
          </a:xfrm>
          <a:prstGeom prst="rect">
            <a:avLst/>
          </a:prstGeom>
          <a:noFill/>
          <a:ln w="9525">
            <a:noFill/>
            <a:miter lim="800000"/>
            <a:headEnd/>
            <a:tailEnd/>
          </a:ln>
        </p:spPr>
      </p:pic>
    </p:spTree>
    <p:extLst>
      <p:ext uri="{BB962C8B-B14F-4D97-AF65-F5344CB8AC3E}">
        <p14:creationId xmlns:p14="http://schemas.microsoft.com/office/powerpoint/2010/main" val="25853620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Componentes de la Aplicación</a:t>
            </a:r>
          </a:p>
        </p:txBody>
      </p:sp>
      <p:graphicFrame>
        <p:nvGraphicFramePr>
          <p:cNvPr id="4" name="3 Marcador de contenido"/>
          <p:cNvGraphicFramePr>
            <a:graphicFrameLocks noGrp="1"/>
          </p:cNvGraphicFramePr>
          <p:nvPr>
            <p:ph sz="quarter" idx="1"/>
            <p:extLst>
              <p:ext uri="{D42A27DB-BD31-4B8C-83A1-F6EECF244321}">
                <p14:modId xmlns:p14="http://schemas.microsoft.com/office/powerpoint/2010/main" val="2843056110"/>
              </p:ext>
            </p:extLst>
          </p:nvPr>
        </p:nvGraphicFramePr>
        <p:xfrm>
          <a:off x="899592" y="1700808"/>
          <a:ext cx="7344816" cy="3907155"/>
        </p:xfrm>
        <a:graphic>
          <a:graphicData uri="http://schemas.openxmlformats.org/drawingml/2006/table">
            <a:tbl>
              <a:tblPr>
                <a:tableStyleId>{9D7B26C5-4107-4FEC-AEDC-1716B250A1EF}</a:tableStyleId>
              </a:tblPr>
              <a:tblGrid>
                <a:gridCol w="3148311">
                  <a:extLst>
                    <a:ext uri="{9D8B030D-6E8A-4147-A177-3AD203B41FA5}">
                      <a16:colId xmlns:a16="http://schemas.microsoft.com/office/drawing/2014/main" val="20000"/>
                    </a:ext>
                  </a:extLst>
                </a:gridCol>
                <a:gridCol w="4196505">
                  <a:extLst>
                    <a:ext uri="{9D8B030D-6E8A-4147-A177-3AD203B41FA5}">
                      <a16:colId xmlns:a16="http://schemas.microsoft.com/office/drawing/2014/main" val="20001"/>
                    </a:ext>
                  </a:extLst>
                </a:gridCol>
              </a:tblGrid>
              <a:tr h="190500">
                <a:tc>
                  <a:txBody>
                    <a:bodyPr/>
                    <a:lstStyle/>
                    <a:p>
                      <a:pPr algn="ctr" fontAlgn="ctr"/>
                      <a:r>
                        <a:rPr lang="es-MX" sz="1400" b="1" u="none" strike="noStrike" dirty="0">
                          <a:effectLst/>
                        </a:rPr>
                        <a:t>Componente</a:t>
                      </a:r>
                      <a:endParaRPr lang="es-CO" sz="1400" b="1" i="0" u="none" strike="noStrike" dirty="0">
                        <a:solidFill>
                          <a:srgbClr val="000000"/>
                        </a:solidFill>
                        <a:effectLst/>
                        <a:latin typeface="LM Roman 12"/>
                      </a:endParaRPr>
                    </a:p>
                  </a:txBody>
                  <a:tcPr marL="9525" marR="9525" marT="9525" marB="0" anchor="ctr"/>
                </a:tc>
                <a:tc>
                  <a:txBody>
                    <a:bodyPr/>
                    <a:lstStyle/>
                    <a:p>
                      <a:pPr algn="ctr" fontAlgn="ctr"/>
                      <a:r>
                        <a:rPr lang="es-MX" sz="1400" b="1" u="none" strike="noStrike" dirty="0">
                          <a:effectLst/>
                        </a:rPr>
                        <a:t>Funcionalidad</a:t>
                      </a:r>
                      <a:endParaRPr lang="es-CO" sz="1400" b="1"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0"/>
                  </a:ext>
                </a:extLst>
              </a:tr>
              <a:tr h="457200">
                <a:tc>
                  <a:txBody>
                    <a:bodyPr/>
                    <a:lstStyle/>
                    <a:p>
                      <a:pPr algn="just" fontAlgn="ctr"/>
                      <a:r>
                        <a:rPr lang="es-MX" sz="1400" u="none" strike="noStrike" dirty="0">
                          <a:effectLst/>
                        </a:rPr>
                        <a:t>Instrumento de Medición para</a:t>
                      </a:r>
                      <a:r>
                        <a:rPr lang="es-MX" sz="1400" u="none" strike="noStrike" baseline="0" dirty="0">
                          <a:effectLst/>
                        </a:rPr>
                        <a:t> Balanza</a:t>
                      </a:r>
                      <a:endParaRPr lang="es-CO" sz="1400" b="0" i="0" u="none" strike="noStrike" dirty="0">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Se encarga de controlar el acceso y el manejo de flujos que provienen de este instrumento responsable de generar el peso real</a:t>
                      </a:r>
                      <a:r>
                        <a:rPr lang="es-MX" sz="1400" u="none" strike="noStrike" baseline="0" dirty="0">
                          <a:effectLst/>
                        </a:rPr>
                        <a:t> que se obtenga del instrumento</a:t>
                      </a:r>
                      <a:r>
                        <a:rPr lang="es-MX" sz="1400" u="none" strike="noStrike" dirty="0">
                          <a:effectLst/>
                        </a:rPr>
                        <a:t>.</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1"/>
                  </a:ext>
                </a:extLst>
              </a:tr>
              <a:tr h="457200">
                <a:tc>
                  <a:txBody>
                    <a:bodyPr/>
                    <a:lstStyle/>
                    <a:p>
                      <a:pPr algn="just" fontAlgn="ctr"/>
                      <a:r>
                        <a:rPr lang="es-MX" sz="1400" u="none" strike="noStrike" dirty="0">
                          <a:effectLst/>
                        </a:rPr>
                        <a:t>Instrumento de Medición de Flujo</a:t>
                      </a:r>
                      <a:endParaRPr lang="es-CO" sz="1400" b="0" i="0" u="none" strike="noStrike" dirty="0">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Se encarga de controlar el acceso y manejo de los flujos que provienen de este instrumento responsable de generar las constantes de temperatura, presión, flujo másico.</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2"/>
                  </a:ext>
                </a:extLst>
              </a:tr>
              <a:tr h="304800">
                <a:tc>
                  <a:txBody>
                    <a:bodyPr/>
                    <a:lstStyle/>
                    <a:p>
                      <a:pPr algn="just" fontAlgn="ctr"/>
                      <a:r>
                        <a:rPr lang="es-MX" sz="1400" u="none" strike="noStrike" dirty="0">
                          <a:effectLst/>
                        </a:rPr>
                        <a:t>Instrumento de Medición Termocuplas Arduino</a:t>
                      </a:r>
                      <a:endParaRPr lang="es-CO" sz="1400" b="0" i="0" u="none" strike="noStrike" dirty="0">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Se encarga de controlar el acceso y el manejo de flujos que provienen de las Termocuplas montadas en Arduino.</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3"/>
                  </a:ext>
                </a:extLst>
              </a:tr>
              <a:tr h="457200">
                <a:tc>
                  <a:txBody>
                    <a:bodyPr/>
                    <a:lstStyle/>
                    <a:p>
                      <a:pPr algn="just" fontAlgn="ctr"/>
                      <a:r>
                        <a:rPr lang="es-MX" sz="1400" u="none" strike="noStrike" dirty="0">
                          <a:effectLst/>
                        </a:rPr>
                        <a:t>Manejador de Datos – Proceso de Monitoreo</a:t>
                      </a:r>
                      <a:endParaRPr lang="es-CO" sz="1400" b="0" i="0" u="none" strike="noStrike" dirty="0">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Se encarga de controlar el manejo, extracción, procesamiento de información de las variables involucradas en el proceso de monitoreo.</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4"/>
                  </a:ext>
                </a:extLst>
              </a:tr>
              <a:tr h="304800">
                <a:tc>
                  <a:txBody>
                    <a:bodyPr/>
                    <a:lstStyle/>
                    <a:p>
                      <a:pPr algn="just" fontAlgn="ctr"/>
                      <a:r>
                        <a:rPr lang="es-MX" sz="1400" u="none" strike="noStrike">
                          <a:effectLst/>
                        </a:rPr>
                        <a:t>Manejador de Gráficas – Proceso de Monitoreo</a:t>
                      </a:r>
                      <a:endParaRPr lang="es-CO" sz="1400" b="0" i="0" u="none" strike="noStrike">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Se encarga de manejar la generación de gráficas de cada una de las variables involucradas en el proceso de monitoreo.</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5"/>
                  </a:ext>
                </a:extLst>
              </a:tr>
              <a:tr h="304800">
                <a:tc>
                  <a:txBody>
                    <a:bodyPr/>
                    <a:lstStyle/>
                    <a:p>
                      <a:pPr algn="just" fontAlgn="ctr"/>
                      <a:r>
                        <a:rPr lang="es-MX" sz="1400" u="none" strike="noStrike">
                          <a:effectLst/>
                        </a:rPr>
                        <a:t>Manejador de Reportes</a:t>
                      </a:r>
                      <a:endParaRPr lang="es-CO" sz="1400" b="0" i="0" u="none" strike="noStrike">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Facilita la generación de reportes en formato PDF y Excel de cada variable involucrada en el proceso de monitoreo.</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48337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Herramientas de Desarrollo Necesarias</a:t>
            </a:r>
          </a:p>
        </p:txBody>
      </p:sp>
      <p:graphicFrame>
        <p:nvGraphicFramePr>
          <p:cNvPr id="4" name="3 Tabla"/>
          <p:cNvGraphicFramePr>
            <a:graphicFrameLocks noGrp="1"/>
          </p:cNvGraphicFramePr>
          <p:nvPr>
            <p:extLst>
              <p:ext uri="{D42A27DB-BD31-4B8C-83A1-F6EECF244321}">
                <p14:modId xmlns:p14="http://schemas.microsoft.com/office/powerpoint/2010/main" val="1749431830"/>
              </p:ext>
            </p:extLst>
          </p:nvPr>
        </p:nvGraphicFramePr>
        <p:xfrm>
          <a:off x="755576" y="1340768"/>
          <a:ext cx="7632848" cy="4779645"/>
        </p:xfrm>
        <a:graphic>
          <a:graphicData uri="http://schemas.openxmlformats.org/drawingml/2006/table">
            <a:tbl>
              <a:tblPr>
                <a:tableStyleId>{5C22544A-7EE6-4342-B048-85BDC9FD1C3A}</a:tableStyleId>
              </a:tblPr>
              <a:tblGrid>
                <a:gridCol w="3271775">
                  <a:extLst>
                    <a:ext uri="{9D8B030D-6E8A-4147-A177-3AD203B41FA5}">
                      <a16:colId xmlns:a16="http://schemas.microsoft.com/office/drawing/2014/main" val="20000"/>
                    </a:ext>
                  </a:extLst>
                </a:gridCol>
                <a:gridCol w="4361073">
                  <a:extLst>
                    <a:ext uri="{9D8B030D-6E8A-4147-A177-3AD203B41FA5}">
                      <a16:colId xmlns:a16="http://schemas.microsoft.com/office/drawing/2014/main" val="20001"/>
                    </a:ext>
                  </a:extLst>
                </a:gridCol>
              </a:tblGrid>
              <a:tr h="190500">
                <a:tc>
                  <a:txBody>
                    <a:bodyPr/>
                    <a:lstStyle/>
                    <a:p>
                      <a:pPr algn="ctr" fontAlgn="ctr"/>
                      <a:r>
                        <a:rPr lang="es-MX" sz="1400" b="1" u="none" strike="noStrike" dirty="0">
                          <a:effectLst/>
                        </a:rPr>
                        <a:t>Herramienta de Desarrollo</a:t>
                      </a:r>
                      <a:endParaRPr lang="es-CO" sz="1400" b="1" i="0" u="none" strike="noStrike" dirty="0">
                        <a:solidFill>
                          <a:srgbClr val="000000"/>
                        </a:solidFill>
                        <a:effectLst/>
                        <a:latin typeface="LM Roman 12"/>
                      </a:endParaRPr>
                    </a:p>
                  </a:txBody>
                  <a:tcPr marL="9525" marR="9525" marT="9525" marB="0" anchor="ctr"/>
                </a:tc>
                <a:tc>
                  <a:txBody>
                    <a:bodyPr/>
                    <a:lstStyle/>
                    <a:p>
                      <a:pPr algn="ctr" fontAlgn="ctr"/>
                      <a:r>
                        <a:rPr lang="es-MX" sz="1400" b="1" u="none" strike="noStrike" dirty="0">
                          <a:effectLst/>
                        </a:rPr>
                        <a:t>Descripción</a:t>
                      </a:r>
                      <a:endParaRPr lang="es-CO" sz="1400" b="1"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0"/>
                  </a:ext>
                </a:extLst>
              </a:tr>
              <a:tr h="323850">
                <a:tc>
                  <a:txBody>
                    <a:bodyPr/>
                    <a:lstStyle/>
                    <a:p>
                      <a:pPr algn="just" fontAlgn="ctr"/>
                      <a:r>
                        <a:rPr lang="es-MX" sz="1400" u="none" strike="noStrike" dirty="0">
                          <a:effectLst/>
                        </a:rPr>
                        <a:t>Arduino</a:t>
                      </a:r>
                      <a:endParaRPr lang="es-CO" sz="1400" b="0" i="0" u="none" strike="noStrike" dirty="0">
                        <a:solidFill>
                          <a:srgbClr val="000000"/>
                        </a:solidFill>
                        <a:effectLst/>
                        <a:latin typeface="LM Roman 12"/>
                      </a:endParaRPr>
                    </a:p>
                  </a:txBody>
                  <a:tcPr marL="9525" marR="9525" marT="9525" marB="0" anchor="ctr"/>
                </a:tc>
                <a:tc>
                  <a:txBody>
                    <a:bodyPr/>
                    <a:lstStyle/>
                    <a:p>
                      <a:pPr algn="just" fontAlgn="ctr"/>
                      <a:r>
                        <a:rPr lang="es-MX" sz="1400" u="none" strike="noStrike">
                          <a:effectLst/>
                        </a:rPr>
                        <a:t>Entorno de desarrollo utilizado para el montaje de las termocuplas y medición de humedad.</a:t>
                      </a:r>
                      <a:endParaRPr lang="es-CO" sz="1400" b="0" i="0" u="none" strike="noStrike">
                        <a:solidFill>
                          <a:srgbClr val="000000"/>
                        </a:solidFill>
                        <a:effectLst/>
                        <a:latin typeface="LM Roman 12"/>
                      </a:endParaRPr>
                    </a:p>
                  </a:txBody>
                  <a:tcPr marL="9525" marR="9525" marT="9525" marB="0" anchor="ctr"/>
                </a:tc>
                <a:extLst>
                  <a:ext uri="{0D108BD9-81ED-4DB2-BD59-A6C34878D82A}">
                    <a16:rowId xmlns:a16="http://schemas.microsoft.com/office/drawing/2014/main" val="10001"/>
                  </a:ext>
                </a:extLst>
              </a:tr>
              <a:tr h="485775">
                <a:tc>
                  <a:txBody>
                    <a:bodyPr/>
                    <a:lstStyle/>
                    <a:p>
                      <a:pPr algn="just" fontAlgn="ctr"/>
                      <a:r>
                        <a:rPr lang="es-MX" sz="1400" u="none" strike="noStrike">
                          <a:effectLst/>
                        </a:rPr>
                        <a:t>Eclipse</a:t>
                      </a:r>
                      <a:endParaRPr lang="es-CO" sz="1400" b="0" i="0" u="none" strike="noStrike">
                        <a:solidFill>
                          <a:srgbClr val="000000"/>
                        </a:solidFill>
                        <a:effectLst/>
                        <a:latin typeface="LM Roman 12"/>
                      </a:endParaRPr>
                    </a:p>
                  </a:txBody>
                  <a:tcPr marL="9525" marR="9525" marT="9525" marB="0" anchor="ctr"/>
                </a:tc>
                <a:tc>
                  <a:txBody>
                    <a:bodyPr/>
                    <a:lstStyle/>
                    <a:p>
                      <a:pPr algn="just" fontAlgn="ctr"/>
                      <a:r>
                        <a:rPr lang="es-MX" sz="1400" u="none" strike="noStrike">
                          <a:effectLst/>
                        </a:rPr>
                        <a:t>Entorno de desarrollo integrado requerido para la implementación del proyecto dedicado al lenguaje de programación Java.</a:t>
                      </a:r>
                      <a:endParaRPr lang="es-CO" sz="1400" b="0" i="0" u="none" strike="noStrike">
                        <a:solidFill>
                          <a:srgbClr val="000000"/>
                        </a:solidFill>
                        <a:effectLst/>
                        <a:latin typeface="LM Roman 12"/>
                      </a:endParaRPr>
                    </a:p>
                  </a:txBody>
                  <a:tcPr marL="9525" marR="9525" marT="9525" marB="0" anchor="ctr"/>
                </a:tc>
                <a:extLst>
                  <a:ext uri="{0D108BD9-81ED-4DB2-BD59-A6C34878D82A}">
                    <a16:rowId xmlns:a16="http://schemas.microsoft.com/office/drawing/2014/main" val="10002"/>
                  </a:ext>
                </a:extLst>
              </a:tr>
              <a:tr h="485775">
                <a:tc>
                  <a:txBody>
                    <a:bodyPr/>
                    <a:lstStyle/>
                    <a:p>
                      <a:pPr algn="just" fontAlgn="ctr"/>
                      <a:r>
                        <a:rPr lang="es-MX" sz="1400" u="none" strike="noStrike">
                          <a:effectLst/>
                        </a:rPr>
                        <a:t>WindowBuilder</a:t>
                      </a:r>
                      <a:endParaRPr lang="es-CO" sz="1400" b="0" i="0" u="none" strike="noStrike">
                        <a:solidFill>
                          <a:srgbClr val="000000"/>
                        </a:solidFill>
                        <a:effectLst/>
                        <a:latin typeface="LM Roman 12"/>
                      </a:endParaRPr>
                    </a:p>
                  </a:txBody>
                  <a:tcPr marL="9525" marR="9525" marT="9525" marB="0" anchor="ctr"/>
                </a:tc>
                <a:tc>
                  <a:txBody>
                    <a:bodyPr/>
                    <a:lstStyle/>
                    <a:p>
                      <a:pPr algn="just" fontAlgn="ctr"/>
                      <a:r>
                        <a:rPr lang="es-MX" sz="1400" u="none" strike="noStrike">
                          <a:effectLst/>
                        </a:rPr>
                        <a:t>Herramienta que facilita la construcción de interfaces gráficas de usuario. Se utilizó para la integración de las pantallas y para construir el programa principal</a:t>
                      </a:r>
                      <a:endParaRPr lang="es-CO" sz="1400" b="0" i="0" u="none" strike="noStrike">
                        <a:solidFill>
                          <a:srgbClr val="000000"/>
                        </a:solidFill>
                        <a:effectLst/>
                        <a:latin typeface="LM Roman 12"/>
                      </a:endParaRPr>
                    </a:p>
                  </a:txBody>
                  <a:tcPr marL="9525" marR="9525" marT="9525" marB="0" anchor="ctr"/>
                </a:tc>
                <a:extLst>
                  <a:ext uri="{0D108BD9-81ED-4DB2-BD59-A6C34878D82A}">
                    <a16:rowId xmlns:a16="http://schemas.microsoft.com/office/drawing/2014/main" val="10003"/>
                  </a:ext>
                </a:extLst>
              </a:tr>
              <a:tr h="485775">
                <a:tc>
                  <a:txBody>
                    <a:bodyPr/>
                    <a:lstStyle/>
                    <a:p>
                      <a:pPr algn="just" fontAlgn="ctr"/>
                      <a:r>
                        <a:rPr lang="es-MX" sz="1400" u="none" strike="noStrike" dirty="0">
                          <a:effectLst/>
                        </a:rPr>
                        <a:t>Java</a:t>
                      </a:r>
                      <a:endParaRPr lang="es-CO" sz="1400" b="0" i="0" u="none" strike="noStrike" dirty="0">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Lenguaje de Programación basado en el paradigma orientado a objetos,  se utilizó para el desarrollo de la lógica y manejo de datos del programa</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4"/>
                  </a:ext>
                </a:extLst>
              </a:tr>
              <a:tr h="485775">
                <a:tc>
                  <a:txBody>
                    <a:bodyPr/>
                    <a:lstStyle/>
                    <a:p>
                      <a:pPr algn="just" fontAlgn="ctr"/>
                      <a:r>
                        <a:rPr lang="es-MX" sz="1400" u="none" strike="noStrike" dirty="0">
                          <a:effectLst/>
                        </a:rPr>
                        <a:t>JFreeChart</a:t>
                      </a:r>
                      <a:endParaRPr lang="es-CO" sz="1400" b="0" i="0" u="none" strike="noStrike" dirty="0">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Librería hecha en Java que fue utilizada para la implementación de las gráficas de tiempo real requeridas para monitorear cada variable.</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5"/>
                  </a:ext>
                </a:extLst>
              </a:tr>
              <a:tr h="323850">
                <a:tc>
                  <a:txBody>
                    <a:bodyPr/>
                    <a:lstStyle/>
                    <a:p>
                      <a:pPr algn="just" fontAlgn="ctr"/>
                      <a:r>
                        <a:rPr lang="es-MX" sz="1400" u="none" strike="noStrike">
                          <a:effectLst/>
                        </a:rPr>
                        <a:t>Apache POI</a:t>
                      </a:r>
                      <a:endParaRPr lang="es-CO" sz="1400" b="0" i="0" u="none" strike="noStrike">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Librería que facilita la generación de reportes en PDF, Excel, etc.</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6"/>
                  </a:ext>
                </a:extLst>
              </a:tr>
              <a:tr h="485775">
                <a:tc>
                  <a:txBody>
                    <a:bodyPr/>
                    <a:lstStyle/>
                    <a:p>
                      <a:pPr algn="just" fontAlgn="ctr"/>
                      <a:r>
                        <a:rPr lang="es-MX" sz="1400" u="none" strike="noStrike">
                          <a:effectLst/>
                        </a:rPr>
                        <a:t>RXTXcomm</a:t>
                      </a:r>
                      <a:endParaRPr lang="es-CO" sz="1400" b="0" i="0" u="none" strike="noStrike">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Librería que contiene un ejecutable que facilita la construcción de aplicaciones que requieran comunicación serial con otros instrumentos.</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7"/>
                  </a:ext>
                </a:extLst>
              </a:tr>
              <a:tr h="323850">
                <a:tc>
                  <a:txBody>
                    <a:bodyPr/>
                    <a:lstStyle/>
                    <a:p>
                      <a:pPr algn="just" fontAlgn="ctr"/>
                      <a:r>
                        <a:rPr lang="es-MX" sz="1400" u="none" strike="noStrike">
                          <a:effectLst/>
                        </a:rPr>
                        <a:t>VirtualSerialPort</a:t>
                      </a:r>
                      <a:endParaRPr lang="es-CO" sz="1400" b="0" i="0" u="none" strike="noStrike">
                        <a:solidFill>
                          <a:srgbClr val="000000"/>
                        </a:solidFill>
                        <a:effectLst/>
                        <a:latin typeface="LM Roman 12"/>
                      </a:endParaRPr>
                    </a:p>
                  </a:txBody>
                  <a:tcPr marL="9525" marR="9525" marT="9525" marB="0" anchor="ctr"/>
                </a:tc>
                <a:tc>
                  <a:txBody>
                    <a:bodyPr/>
                    <a:lstStyle/>
                    <a:p>
                      <a:pPr algn="just" fontAlgn="ctr"/>
                      <a:r>
                        <a:rPr lang="es-MX" sz="1400" u="none" strike="noStrike" dirty="0">
                          <a:effectLst/>
                        </a:rPr>
                        <a:t>Programa utilizado para emular</a:t>
                      </a:r>
                      <a:r>
                        <a:rPr lang="es-MX" sz="1400" u="none" strike="noStrike" baseline="0" dirty="0">
                          <a:effectLst/>
                        </a:rPr>
                        <a:t> la comunicación de puertos seriales.</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339992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Herramientas de Software</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3553593"/>
            <a:ext cx="9810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3 CuadroTexto"/>
          <p:cNvSpPr txBox="1"/>
          <p:nvPr/>
        </p:nvSpPr>
        <p:spPr>
          <a:xfrm>
            <a:off x="1488568" y="3937852"/>
            <a:ext cx="1675330" cy="523220"/>
          </a:xfrm>
          <a:prstGeom prst="rect">
            <a:avLst/>
          </a:prstGeom>
          <a:noFill/>
        </p:spPr>
        <p:txBody>
          <a:bodyPr wrap="none" rtlCol="0">
            <a:spAutoFit/>
          </a:bodyPr>
          <a:lstStyle/>
          <a:p>
            <a:pPr algn="ctr"/>
            <a:r>
              <a:rPr lang="es-CO" sz="1400" dirty="0"/>
              <a:t>Comunicación Serial</a:t>
            </a:r>
          </a:p>
          <a:p>
            <a:pPr algn="ctr"/>
            <a:r>
              <a:rPr lang="es-CO" sz="1400" dirty="0"/>
              <a:t>RXTX</a:t>
            </a:r>
          </a:p>
        </p:txBody>
      </p:sp>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2924944"/>
            <a:ext cx="1857375"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6 Imagen"/>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4401" y="1484784"/>
            <a:ext cx="1471295" cy="1649730"/>
          </a:xfrm>
          <a:prstGeom prst="rect">
            <a:avLst/>
          </a:prstGeom>
          <a:noFill/>
          <a:ln>
            <a:noFill/>
          </a:ln>
        </p:spPr>
      </p:pic>
      <p:sp>
        <p:nvSpPr>
          <p:cNvPr id="8" name="7 CuadroTexto"/>
          <p:cNvSpPr txBox="1"/>
          <p:nvPr/>
        </p:nvSpPr>
        <p:spPr>
          <a:xfrm>
            <a:off x="696302" y="3134514"/>
            <a:ext cx="1080745" cy="307777"/>
          </a:xfrm>
          <a:prstGeom prst="rect">
            <a:avLst/>
          </a:prstGeom>
          <a:noFill/>
        </p:spPr>
        <p:txBody>
          <a:bodyPr wrap="none" rtlCol="0">
            <a:spAutoFit/>
          </a:bodyPr>
          <a:lstStyle/>
          <a:p>
            <a:pPr algn="ctr"/>
            <a:r>
              <a:rPr lang="es-CO" sz="1400" dirty="0"/>
              <a:t>Instrumento</a:t>
            </a:r>
          </a:p>
        </p:txBody>
      </p:sp>
      <p:cxnSp>
        <p:nvCxnSpPr>
          <p:cNvPr id="6" name="5 Conector recto de flecha"/>
          <p:cNvCxnSpPr>
            <a:stCxn id="11" idx="0"/>
            <a:endCxn id="9220" idx="2"/>
          </p:cNvCxnSpPr>
          <p:nvPr/>
        </p:nvCxnSpPr>
        <p:spPr>
          <a:xfrm rot="5400000" flipH="1" flipV="1">
            <a:off x="6298122" y="2693408"/>
            <a:ext cx="407471" cy="127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pic>
        <p:nvPicPr>
          <p:cNvPr id="11" name="Picture 2" descr="C:\Users\USER\Desktop\FOTO_1444774360.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80112" y="2897143"/>
            <a:ext cx="1843490" cy="184349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C:\Users\USER\Desktop\FOTO_1444802643.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1769" y="1484784"/>
            <a:ext cx="1400175" cy="1004888"/>
          </a:xfrm>
          <a:prstGeom prst="rect">
            <a:avLst/>
          </a:prstGeom>
          <a:noFill/>
          <a:extLst>
            <a:ext uri="{909E8E84-426E-40DD-AFC4-6F175D3DCCD1}">
              <a14:hiddenFill xmlns:a14="http://schemas.microsoft.com/office/drawing/2010/main">
                <a:solidFill>
                  <a:srgbClr val="FFFFFF"/>
                </a:solidFill>
              </a14:hiddenFill>
            </a:ext>
          </a:extLst>
        </p:spPr>
      </p:pic>
      <p:pic>
        <p:nvPicPr>
          <p:cNvPr id="9221" name="Picture 5" descr="C:\Users\USER\Desktop\FOTO_1444802677.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9537" y="5085184"/>
            <a:ext cx="790575" cy="590550"/>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C:\Users\USER\Desktop\FOTO_1444802683.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332" y="5075659"/>
            <a:ext cx="781050" cy="600075"/>
          </a:xfrm>
          <a:prstGeom prst="rect">
            <a:avLst/>
          </a:prstGeom>
          <a:noFill/>
          <a:extLst>
            <a:ext uri="{909E8E84-426E-40DD-AFC4-6F175D3DCCD1}">
              <a14:hiddenFill xmlns:a14="http://schemas.microsoft.com/office/drawing/2010/main">
                <a:solidFill>
                  <a:srgbClr val="FFFFFF"/>
                </a:solidFill>
              </a14:hiddenFill>
            </a:ext>
          </a:extLst>
        </p:spPr>
      </p:pic>
      <p:pic>
        <p:nvPicPr>
          <p:cNvPr id="9223" name="Picture 7" descr="C:\Users\USER\Desktop\FOTO_1444802687.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23602" y="5106717"/>
            <a:ext cx="771525" cy="571500"/>
          </a:xfrm>
          <a:prstGeom prst="rect">
            <a:avLst/>
          </a:prstGeom>
          <a:noFill/>
          <a:extLst>
            <a:ext uri="{909E8E84-426E-40DD-AFC4-6F175D3DCCD1}">
              <a14:hiddenFill xmlns:a14="http://schemas.microsoft.com/office/drawing/2010/main">
                <a:solidFill>
                  <a:srgbClr val="FFFFFF"/>
                </a:solidFill>
              </a14:hiddenFill>
            </a:ext>
          </a:extLst>
        </p:spPr>
      </p:pic>
      <p:sp>
        <p:nvSpPr>
          <p:cNvPr id="16" name="15 CuadroTexto"/>
          <p:cNvSpPr txBox="1"/>
          <p:nvPr/>
        </p:nvSpPr>
        <p:spPr>
          <a:xfrm>
            <a:off x="4652206" y="5706604"/>
            <a:ext cx="1059906" cy="523220"/>
          </a:xfrm>
          <a:prstGeom prst="rect">
            <a:avLst/>
          </a:prstGeom>
          <a:noFill/>
        </p:spPr>
        <p:txBody>
          <a:bodyPr wrap="none" rtlCol="0">
            <a:spAutoFit/>
          </a:bodyPr>
          <a:lstStyle/>
          <a:p>
            <a:pPr algn="ctr"/>
            <a:r>
              <a:rPr lang="es-CO" sz="1400" dirty="0"/>
              <a:t>Apache POI</a:t>
            </a:r>
          </a:p>
          <a:p>
            <a:pPr algn="ctr"/>
            <a:r>
              <a:rPr lang="es-CO" sz="1400" dirty="0"/>
              <a:t>PDF</a:t>
            </a:r>
          </a:p>
        </p:txBody>
      </p:sp>
      <p:sp>
        <p:nvSpPr>
          <p:cNvPr id="17" name="16 CuadroTexto"/>
          <p:cNvSpPr txBox="1"/>
          <p:nvPr/>
        </p:nvSpPr>
        <p:spPr>
          <a:xfrm>
            <a:off x="5930515" y="5732844"/>
            <a:ext cx="1059906" cy="523220"/>
          </a:xfrm>
          <a:prstGeom prst="rect">
            <a:avLst/>
          </a:prstGeom>
          <a:noFill/>
        </p:spPr>
        <p:txBody>
          <a:bodyPr wrap="none" rtlCol="0">
            <a:spAutoFit/>
          </a:bodyPr>
          <a:lstStyle/>
          <a:p>
            <a:pPr algn="ctr"/>
            <a:r>
              <a:rPr lang="es-CO" sz="1400" dirty="0"/>
              <a:t>Apache POI</a:t>
            </a:r>
          </a:p>
          <a:p>
            <a:pPr algn="ctr"/>
            <a:r>
              <a:rPr lang="es-CO" sz="1400" dirty="0"/>
              <a:t>Excel</a:t>
            </a:r>
          </a:p>
        </p:txBody>
      </p:sp>
      <p:sp>
        <p:nvSpPr>
          <p:cNvPr id="18" name="17 CuadroTexto"/>
          <p:cNvSpPr txBox="1"/>
          <p:nvPr/>
        </p:nvSpPr>
        <p:spPr>
          <a:xfrm>
            <a:off x="7259408" y="5662894"/>
            <a:ext cx="1099916" cy="523220"/>
          </a:xfrm>
          <a:prstGeom prst="rect">
            <a:avLst/>
          </a:prstGeom>
          <a:noFill/>
        </p:spPr>
        <p:txBody>
          <a:bodyPr wrap="none" rtlCol="0">
            <a:spAutoFit/>
          </a:bodyPr>
          <a:lstStyle/>
          <a:p>
            <a:pPr algn="ctr"/>
            <a:r>
              <a:rPr lang="es-CO" sz="1400" dirty="0"/>
              <a:t>Archivos de </a:t>
            </a:r>
          </a:p>
          <a:p>
            <a:pPr algn="ctr"/>
            <a:r>
              <a:rPr lang="es-CO" sz="1400" dirty="0"/>
              <a:t>Texto</a:t>
            </a:r>
          </a:p>
        </p:txBody>
      </p:sp>
      <p:sp>
        <p:nvSpPr>
          <p:cNvPr id="19" name="18 CuadroTexto"/>
          <p:cNvSpPr txBox="1"/>
          <p:nvPr/>
        </p:nvSpPr>
        <p:spPr>
          <a:xfrm>
            <a:off x="7338693" y="1628800"/>
            <a:ext cx="981359" cy="307777"/>
          </a:xfrm>
          <a:prstGeom prst="rect">
            <a:avLst/>
          </a:prstGeom>
          <a:noFill/>
        </p:spPr>
        <p:txBody>
          <a:bodyPr wrap="none" rtlCol="0">
            <a:spAutoFit/>
          </a:bodyPr>
          <a:lstStyle/>
          <a:p>
            <a:pPr algn="ctr"/>
            <a:r>
              <a:rPr lang="es-CO" sz="1400" dirty="0"/>
              <a:t>JFreeChart</a:t>
            </a:r>
          </a:p>
        </p:txBody>
      </p:sp>
      <p:cxnSp>
        <p:nvCxnSpPr>
          <p:cNvPr id="20" name="5 Conector recto de flecha"/>
          <p:cNvCxnSpPr>
            <a:stCxn id="9218" idx="3"/>
          </p:cNvCxnSpPr>
          <p:nvPr/>
        </p:nvCxnSpPr>
        <p:spPr>
          <a:xfrm flipV="1">
            <a:off x="2816771" y="3442291"/>
            <a:ext cx="675109" cy="29704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5 Conector recto de flecha"/>
          <p:cNvCxnSpPr>
            <a:stCxn id="4" idx="2"/>
            <a:endCxn id="9226" idx="0"/>
          </p:cNvCxnSpPr>
          <p:nvPr/>
        </p:nvCxnSpPr>
        <p:spPr>
          <a:xfrm rot="5400000">
            <a:off x="2080304" y="4680355"/>
            <a:ext cx="465212" cy="2664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5 Conector recto de flecha"/>
          <p:cNvCxnSpPr>
            <a:endCxn id="11" idx="1"/>
          </p:cNvCxnSpPr>
          <p:nvPr/>
        </p:nvCxnSpPr>
        <p:spPr>
          <a:xfrm>
            <a:off x="5004048" y="3553593"/>
            <a:ext cx="576064" cy="26529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5 Conector recto de flecha"/>
          <p:cNvCxnSpPr>
            <a:stCxn id="11" idx="2"/>
            <a:endCxn id="9221" idx="0"/>
          </p:cNvCxnSpPr>
          <p:nvPr/>
        </p:nvCxnSpPr>
        <p:spPr>
          <a:xfrm rot="5400000">
            <a:off x="5671066" y="4254392"/>
            <a:ext cx="344551" cy="131703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5 Conector recto de flecha"/>
          <p:cNvCxnSpPr>
            <a:stCxn id="11" idx="2"/>
            <a:endCxn id="9222" idx="0"/>
          </p:cNvCxnSpPr>
          <p:nvPr/>
        </p:nvCxnSpPr>
        <p:spPr>
          <a:xfrm rot="5400000">
            <a:off x="6334344" y="4908146"/>
            <a:ext cx="335026" cy="127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5 Conector recto de flecha"/>
          <p:cNvCxnSpPr>
            <a:endCxn id="9223" idx="0"/>
          </p:cNvCxnSpPr>
          <p:nvPr/>
        </p:nvCxnSpPr>
        <p:spPr>
          <a:xfrm>
            <a:off x="6460468" y="4893032"/>
            <a:ext cx="1348897" cy="213685"/>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3" name="42 CuadroTexto"/>
          <p:cNvSpPr txBox="1"/>
          <p:nvPr/>
        </p:nvSpPr>
        <p:spPr>
          <a:xfrm>
            <a:off x="7693756" y="3506563"/>
            <a:ext cx="455702" cy="307777"/>
          </a:xfrm>
          <a:prstGeom prst="rect">
            <a:avLst/>
          </a:prstGeom>
          <a:noFill/>
        </p:spPr>
        <p:txBody>
          <a:bodyPr wrap="none" rtlCol="0">
            <a:spAutoFit/>
          </a:bodyPr>
          <a:lstStyle/>
          <a:p>
            <a:pPr algn="ctr"/>
            <a:r>
              <a:rPr lang="es-CO" sz="1400" dirty="0"/>
              <a:t>Java</a:t>
            </a:r>
          </a:p>
        </p:txBody>
      </p:sp>
      <p:pic>
        <p:nvPicPr>
          <p:cNvPr id="9226" name="Picture 8" descr="C:\Users\USER\Desktop\FOTO_1444803035.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88568" y="4926284"/>
            <a:ext cx="1622036" cy="1068170"/>
          </a:xfrm>
          <a:prstGeom prst="rect">
            <a:avLst/>
          </a:prstGeom>
          <a:noFill/>
          <a:extLst>
            <a:ext uri="{909E8E84-426E-40DD-AFC4-6F175D3DCCD1}">
              <a14:hiddenFill xmlns:a14="http://schemas.microsoft.com/office/drawing/2010/main">
                <a:solidFill>
                  <a:srgbClr val="FFFFFF"/>
                </a:solidFill>
              </a14:hiddenFill>
            </a:ext>
          </a:extLst>
        </p:spPr>
      </p:pic>
      <p:cxnSp>
        <p:nvCxnSpPr>
          <p:cNvPr id="47" name="5 Conector recto de flecha"/>
          <p:cNvCxnSpPr>
            <a:stCxn id="8" idx="2"/>
            <a:endCxn id="9218" idx="1"/>
          </p:cNvCxnSpPr>
          <p:nvPr/>
        </p:nvCxnSpPr>
        <p:spPr>
          <a:xfrm rot="16200000" flipH="1">
            <a:off x="1387665" y="3291300"/>
            <a:ext cx="297040" cy="599021"/>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51" name="50 CuadroTexto"/>
          <p:cNvSpPr txBox="1"/>
          <p:nvPr/>
        </p:nvSpPr>
        <p:spPr>
          <a:xfrm>
            <a:off x="1420855" y="6025324"/>
            <a:ext cx="1757469" cy="307777"/>
          </a:xfrm>
          <a:prstGeom prst="rect">
            <a:avLst/>
          </a:prstGeom>
          <a:noFill/>
        </p:spPr>
        <p:txBody>
          <a:bodyPr wrap="none" rtlCol="0">
            <a:spAutoFit/>
          </a:bodyPr>
          <a:lstStyle/>
          <a:p>
            <a:pPr algn="ctr"/>
            <a:r>
              <a:rPr lang="es-CO" sz="1400" dirty="0"/>
              <a:t>Simulador de Puertos</a:t>
            </a:r>
          </a:p>
        </p:txBody>
      </p:sp>
    </p:spTree>
    <p:extLst>
      <p:ext uri="{BB962C8B-B14F-4D97-AF65-F5344CB8AC3E}">
        <p14:creationId xmlns:p14="http://schemas.microsoft.com/office/powerpoint/2010/main" val="15568827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457200" y="1219200"/>
            <a:ext cx="8229600" cy="553616"/>
          </a:xfrm>
        </p:spPr>
        <p:txBody>
          <a:bodyPr>
            <a:normAutofit/>
          </a:bodyPr>
          <a:lstStyle/>
          <a:p>
            <a:r>
              <a:rPr lang="es-CO" dirty="0"/>
              <a:t>Modelo de Desarrollo Utilizado</a:t>
            </a:r>
          </a:p>
        </p:txBody>
      </p:sp>
      <p:graphicFrame>
        <p:nvGraphicFramePr>
          <p:cNvPr id="4" name="3 Tabla"/>
          <p:cNvGraphicFramePr>
            <a:graphicFrameLocks noGrp="1"/>
          </p:cNvGraphicFramePr>
          <p:nvPr>
            <p:extLst>
              <p:ext uri="{D42A27DB-BD31-4B8C-83A1-F6EECF244321}">
                <p14:modId xmlns:p14="http://schemas.microsoft.com/office/powerpoint/2010/main" val="3167771473"/>
              </p:ext>
            </p:extLst>
          </p:nvPr>
        </p:nvGraphicFramePr>
        <p:xfrm>
          <a:off x="971600" y="1916832"/>
          <a:ext cx="7344816" cy="3451860"/>
        </p:xfrm>
        <a:graphic>
          <a:graphicData uri="http://schemas.openxmlformats.org/drawingml/2006/table">
            <a:tbl>
              <a:tblPr>
                <a:tableStyleId>{9D7B26C5-4107-4FEC-AEDC-1716B250A1EF}</a:tableStyleId>
              </a:tblPr>
              <a:tblGrid>
                <a:gridCol w="3148311">
                  <a:extLst>
                    <a:ext uri="{9D8B030D-6E8A-4147-A177-3AD203B41FA5}">
                      <a16:colId xmlns:a16="http://schemas.microsoft.com/office/drawing/2014/main" val="20000"/>
                    </a:ext>
                  </a:extLst>
                </a:gridCol>
                <a:gridCol w="4196505">
                  <a:extLst>
                    <a:ext uri="{9D8B030D-6E8A-4147-A177-3AD203B41FA5}">
                      <a16:colId xmlns:a16="http://schemas.microsoft.com/office/drawing/2014/main" val="20001"/>
                    </a:ext>
                  </a:extLst>
                </a:gridCol>
              </a:tblGrid>
              <a:tr h="161925">
                <a:tc>
                  <a:txBody>
                    <a:bodyPr/>
                    <a:lstStyle/>
                    <a:p>
                      <a:pPr algn="ctr" fontAlgn="ctr"/>
                      <a:r>
                        <a:rPr lang="es-MX" sz="1400" b="1" u="none" strike="noStrike" dirty="0">
                          <a:effectLst/>
                        </a:rPr>
                        <a:t>Programa</a:t>
                      </a:r>
                      <a:endParaRPr lang="es-MX" sz="1400" b="1" i="0" u="none" strike="noStrike" dirty="0">
                        <a:solidFill>
                          <a:srgbClr val="000000"/>
                        </a:solidFill>
                        <a:effectLst/>
                        <a:latin typeface="LM Roman 12"/>
                      </a:endParaRPr>
                    </a:p>
                  </a:txBody>
                  <a:tcPr marL="9525" marR="9525" marT="9525" marB="0" anchor="ctr"/>
                </a:tc>
                <a:tc>
                  <a:txBody>
                    <a:bodyPr/>
                    <a:lstStyle/>
                    <a:p>
                      <a:pPr algn="ctr" fontAlgn="ctr"/>
                      <a:r>
                        <a:rPr lang="es-MX" sz="1400" b="1" u="none" strike="noStrike" dirty="0">
                          <a:effectLst/>
                        </a:rPr>
                        <a:t>Descripción</a:t>
                      </a:r>
                      <a:endParaRPr lang="es-MX" sz="1400" b="1"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0"/>
                  </a:ext>
                </a:extLst>
              </a:tr>
              <a:tr h="1133475">
                <a:tc>
                  <a:txBody>
                    <a:bodyPr/>
                    <a:lstStyle/>
                    <a:p>
                      <a:pPr algn="just" fontAlgn="ctr"/>
                      <a:r>
                        <a:rPr lang="es-CO" sz="1400" u="none" strike="noStrike">
                          <a:effectLst/>
                        </a:rPr>
                        <a:t>Comunicación Serial</a:t>
                      </a:r>
                      <a:endParaRPr lang="es-CO" sz="1400" b="0" i="0" u="none" strike="noStrike">
                        <a:solidFill>
                          <a:srgbClr val="000000"/>
                        </a:solidFill>
                        <a:effectLst/>
                        <a:latin typeface="LM Roman 12"/>
                      </a:endParaRPr>
                    </a:p>
                  </a:txBody>
                  <a:tcPr marL="9525" marR="9525" marT="9525" marB="0" anchor="ctr"/>
                </a:tc>
                <a:tc>
                  <a:txBody>
                    <a:bodyPr/>
                    <a:lstStyle/>
                    <a:p>
                      <a:pPr algn="just" fontAlgn="ctr"/>
                      <a:r>
                        <a:rPr lang="es-CO" sz="1400" u="none" strike="noStrike" dirty="0">
                          <a:effectLst/>
                        </a:rPr>
                        <a:t>Programa implementado para facilitar la captura de datos de un instrumento, validando que la comunicación a un puerto seleccionado se lleve a cabo exitosamente. Luego su respectiva conexión al puerto y la ejecución del oyente que toma la información y luego a través del evento </a:t>
                      </a:r>
                      <a:r>
                        <a:rPr lang="es-CO" sz="1400" u="none" strike="noStrike" dirty="0" err="1">
                          <a:effectLst/>
                        </a:rPr>
                        <a:t>SerialEvent</a:t>
                      </a:r>
                      <a:r>
                        <a:rPr lang="es-CO" sz="1400" u="none" strike="noStrike" dirty="0">
                          <a:effectLst/>
                        </a:rPr>
                        <a:t> darle el tratamiento y la generación de su respectiva traza de captura.</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1"/>
                  </a:ext>
                </a:extLst>
              </a:tr>
              <a:tr h="809625">
                <a:tc>
                  <a:txBody>
                    <a:bodyPr/>
                    <a:lstStyle/>
                    <a:p>
                      <a:pPr algn="just" fontAlgn="ctr"/>
                      <a:r>
                        <a:rPr lang="es-CO" sz="1400" u="none" strike="noStrike">
                          <a:effectLst/>
                        </a:rPr>
                        <a:t>Gráfica Dinámica</a:t>
                      </a:r>
                      <a:endParaRPr lang="es-CO" sz="1400" b="0" i="0" u="none" strike="noStrike">
                        <a:solidFill>
                          <a:srgbClr val="000000"/>
                        </a:solidFill>
                        <a:effectLst/>
                        <a:latin typeface="LM Roman 12"/>
                      </a:endParaRPr>
                    </a:p>
                  </a:txBody>
                  <a:tcPr marL="9525" marR="9525" marT="9525" marB="0" anchor="ctr"/>
                </a:tc>
                <a:tc>
                  <a:txBody>
                    <a:bodyPr/>
                    <a:lstStyle/>
                    <a:p>
                      <a:pPr algn="just" fontAlgn="ctr"/>
                      <a:r>
                        <a:rPr lang="es-CO" sz="1400" u="none" strike="noStrike" dirty="0">
                          <a:effectLst/>
                        </a:rPr>
                        <a:t>Programa que permite la visualización en tiempo real de las constantes obtenidas y procesadas durante la comunicación con el instrumento. Para esta gráfica se maneja un </a:t>
                      </a:r>
                      <a:r>
                        <a:rPr lang="es-CO" sz="1400" u="none" strike="noStrike" dirty="0" err="1">
                          <a:effectLst/>
                        </a:rPr>
                        <a:t>Timer</a:t>
                      </a:r>
                      <a:r>
                        <a:rPr lang="es-CO" sz="1400" u="none" strike="noStrike" dirty="0">
                          <a:effectLst/>
                        </a:rPr>
                        <a:t> (demonio) que dispara un contador de tiempo para manejar en el tiempo las siguientes variables del instrumento.</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2"/>
                  </a:ext>
                </a:extLst>
              </a:tr>
              <a:tr h="323850">
                <a:tc>
                  <a:txBody>
                    <a:bodyPr/>
                    <a:lstStyle/>
                    <a:p>
                      <a:pPr algn="just" fontAlgn="ctr"/>
                      <a:r>
                        <a:rPr lang="es-CO" sz="1400" u="none" strike="noStrike">
                          <a:effectLst/>
                        </a:rPr>
                        <a:t>Controlador de la Aplicación</a:t>
                      </a:r>
                      <a:endParaRPr lang="es-CO" sz="1400" b="0" i="0" u="none" strike="noStrike">
                        <a:solidFill>
                          <a:srgbClr val="000000"/>
                        </a:solidFill>
                        <a:effectLst/>
                        <a:latin typeface="LM Roman 12"/>
                      </a:endParaRPr>
                    </a:p>
                  </a:txBody>
                  <a:tcPr marL="9525" marR="9525" marT="9525" marB="0" anchor="ctr"/>
                </a:tc>
                <a:tc>
                  <a:txBody>
                    <a:bodyPr/>
                    <a:lstStyle/>
                    <a:p>
                      <a:pPr algn="just" fontAlgn="ctr"/>
                      <a:r>
                        <a:rPr lang="es-CO" sz="1400" u="none" strike="noStrike" dirty="0">
                          <a:effectLst/>
                        </a:rPr>
                        <a:t>Programa que integra el manejo de comunicación serial y su visualización a través de las gráficas dinámicas.</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23482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a:t>Resultado del Proceso de Construcción</a:t>
            </a:r>
            <a:br>
              <a:rPr lang="es-CO" dirty="0"/>
            </a:br>
            <a:r>
              <a:rPr lang="es-CO" dirty="0"/>
              <a:t>(Monitoreo de Balanza)</a:t>
            </a:r>
          </a:p>
        </p:txBody>
      </p:sp>
      <p:pic>
        <p:nvPicPr>
          <p:cNvPr id="11266" name="Picture 2" descr="C:\Users\USER\Desktop\FOTO_1444803953.jp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539552" y="1268761"/>
            <a:ext cx="3816424" cy="4896544"/>
          </a:xfrm>
          <a:prstGeom prst="rect">
            <a:avLst/>
          </a:prstGeom>
          <a:noFill/>
          <a:extLst>
            <a:ext uri="{909E8E84-426E-40DD-AFC4-6F175D3DCCD1}">
              <a14:hiddenFill xmlns:a14="http://schemas.microsoft.com/office/drawing/2010/main">
                <a:solidFill>
                  <a:srgbClr val="FFFFFF"/>
                </a:solidFill>
              </a14:hiddenFill>
            </a:ext>
          </a:extLst>
        </p:spPr>
      </p:pic>
      <p:pic>
        <p:nvPicPr>
          <p:cNvPr id="11267" name="Picture 3" descr="C:\Users\USER\Desktop\FOTO_144480396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992" y="1268760"/>
            <a:ext cx="4200344" cy="4896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510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a:t>Resultado del Proceso de Construcción </a:t>
            </a:r>
            <a:br>
              <a:rPr lang="es-CO" dirty="0"/>
            </a:br>
            <a:r>
              <a:rPr lang="es-CO" dirty="0"/>
              <a:t>(Monitoreo de Flujo Másico)</a:t>
            </a:r>
          </a:p>
        </p:txBody>
      </p:sp>
      <p:pic>
        <p:nvPicPr>
          <p:cNvPr id="12290" name="Picture 2" descr="C:\Users\USER\Desktop\FOTO_1444803992.jpg"/>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67544" y="1340768"/>
            <a:ext cx="3744416" cy="4937125"/>
          </a:xfrm>
          <a:prstGeom prst="rect">
            <a:avLst/>
          </a:prstGeom>
          <a:noFill/>
          <a:extLst>
            <a:ext uri="{909E8E84-426E-40DD-AFC4-6F175D3DCCD1}">
              <a14:hiddenFill xmlns:a14="http://schemas.microsoft.com/office/drawing/2010/main">
                <a:solidFill>
                  <a:srgbClr val="FFFFFF"/>
                </a:solidFill>
              </a14:hiddenFill>
            </a:ext>
          </a:extLst>
        </p:spPr>
      </p:pic>
      <p:pic>
        <p:nvPicPr>
          <p:cNvPr id="12291" name="Picture 3" descr="C:\Users\USER\Desktop\FOTO_144480400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1340768"/>
            <a:ext cx="4311294" cy="4907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682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CO" dirty="0"/>
              <a:t>Resultado del Proceso de Construcción Generación de Reportes</a:t>
            </a:r>
          </a:p>
        </p:txBody>
      </p:sp>
      <p:graphicFrame>
        <p:nvGraphicFramePr>
          <p:cNvPr id="4" name="3 Marcador de contenido"/>
          <p:cNvGraphicFramePr>
            <a:graphicFrameLocks noGrp="1"/>
          </p:cNvGraphicFramePr>
          <p:nvPr>
            <p:ph sz="quarter" idx="1"/>
            <p:extLst>
              <p:ext uri="{D42A27DB-BD31-4B8C-83A1-F6EECF244321}">
                <p14:modId xmlns:p14="http://schemas.microsoft.com/office/powerpoint/2010/main" val="1481942059"/>
              </p:ext>
            </p:extLst>
          </p:nvPr>
        </p:nvGraphicFramePr>
        <p:xfrm>
          <a:off x="971600" y="1556792"/>
          <a:ext cx="7344816" cy="2802255"/>
        </p:xfrm>
        <a:graphic>
          <a:graphicData uri="http://schemas.openxmlformats.org/drawingml/2006/table">
            <a:tbl>
              <a:tblPr>
                <a:tableStyleId>{9D7B26C5-4107-4FEC-AEDC-1716B250A1EF}</a:tableStyleId>
              </a:tblPr>
              <a:tblGrid>
                <a:gridCol w="3148311">
                  <a:extLst>
                    <a:ext uri="{9D8B030D-6E8A-4147-A177-3AD203B41FA5}">
                      <a16:colId xmlns:a16="http://schemas.microsoft.com/office/drawing/2014/main" val="20000"/>
                    </a:ext>
                  </a:extLst>
                </a:gridCol>
                <a:gridCol w="4196505">
                  <a:extLst>
                    <a:ext uri="{9D8B030D-6E8A-4147-A177-3AD203B41FA5}">
                      <a16:colId xmlns:a16="http://schemas.microsoft.com/office/drawing/2014/main" val="20001"/>
                    </a:ext>
                  </a:extLst>
                </a:gridCol>
              </a:tblGrid>
              <a:tr h="206185">
                <a:tc>
                  <a:txBody>
                    <a:bodyPr/>
                    <a:lstStyle/>
                    <a:p>
                      <a:pPr algn="ctr" fontAlgn="ctr"/>
                      <a:r>
                        <a:rPr lang="es-MX" sz="1400" b="1" u="none" strike="noStrike" dirty="0">
                          <a:effectLst/>
                        </a:rPr>
                        <a:t>Programa</a:t>
                      </a:r>
                      <a:endParaRPr lang="es-CO" sz="1400" b="1" i="0" u="none" strike="noStrike" dirty="0">
                        <a:solidFill>
                          <a:srgbClr val="000000"/>
                        </a:solidFill>
                        <a:effectLst/>
                        <a:latin typeface="LM Roman 12"/>
                      </a:endParaRPr>
                    </a:p>
                  </a:txBody>
                  <a:tcPr marL="9525" marR="9525" marT="9525" marB="0" anchor="ctr"/>
                </a:tc>
                <a:tc>
                  <a:txBody>
                    <a:bodyPr/>
                    <a:lstStyle/>
                    <a:p>
                      <a:pPr algn="ctr" fontAlgn="ctr"/>
                      <a:r>
                        <a:rPr lang="es-MX" sz="1400" b="1" u="none" strike="noStrike" dirty="0">
                          <a:effectLst/>
                        </a:rPr>
                        <a:t>Descripción</a:t>
                      </a:r>
                      <a:endParaRPr lang="es-CO" sz="1400" b="1"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0"/>
                  </a:ext>
                </a:extLst>
              </a:tr>
              <a:tr h="1390425">
                <a:tc>
                  <a:txBody>
                    <a:bodyPr/>
                    <a:lstStyle/>
                    <a:p>
                      <a:pPr algn="ctr" fontAlgn="ctr"/>
                      <a:r>
                        <a:rPr lang="es-CO" sz="1400" u="none" strike="noStrike" dirty="0">
                          <a:effectLst/>
                        </a:rPr>
                        <a:t>Reporte en PDF</a:t>
                      </a:r>
                      <a:endParaRPr lang="es-CO" sz="1400" b="0" i="0" u="none" strike="noStrike" dirty="0">
                        <a:solidFill>
                          <a:srgbClr val="000000"/>
                        </a:solidFill>
                        <a:effectLst/>
                        <a:latin typeface="LM Roman 12"/>
                      </a:endParaRPr>
                    </a:p>
                  </a:txBody>
                  <a:tcPr marL="9525" marR="9525" marT="9525" marB="0" anchor="ctr"/>
                </a:tc>
                <a:tc>
                  <a:txBody>
                    <a:bodyPr/>
                    <a:lstStyle/>
                    <a:p>
                      <a:pPr algn="just" fontAlgn="ctr"/>
                      <a:r>
                        <a:rPr lang="es-CO" sz="1400" u="none" strike="noStrike">
                          <a:effectLst/>
                        </a:rPr>
                        <a:t>Permite al usuario exportar el contenido de las tablas dinámicas, sin importar que se generen datos en tiempo real: una vez se genere el reporte, el usuario recibe un mensaje indicando que el reporte se generó correctamente: para generar estos reportes se requirió utilizar la librería Apache POI, la cual facilita la generación de reportes (PDF y Excel).</a:t>
                      </a:r>
                      <a:endParaRPr lang="es-CO" sz="1400" b="0" i="0" u="none" strike="noStrike">
                        <a:solidFill>
                          <a:srgbClr val="000000"/>
                        </a:solidFill>
                        <a:effectLst/>
                        <a:latin typeface="LM Roman 12"/>
                      </a:endParaRPr>
                    </a:p>
                  </a:txBody>
                  <a:tcPr marL="9525" marR="9525" marT="9525" marB="0" anchor="ctr"/>
                </a:tc>
                <a:extLst>
                  <a:ext uri="{0D108BD9-81ED-4DB2-BD59-A6C34878D82A}">
                    <a16:rowId xmlns:a16="http://schemas.microsoft.com/office/drawing/2014/main" val="10001"/>
                  </a:ext>
                </a:extLst>
              </a:tr>
              <a:tr h="995678">
                <a:tc>
                  <a:txBody>
                    <a:bodyPr/>
                    <a:lstStyle/>
                    <a:p>
                      <a:pPr algn="ctr" fontAlgn="ctr"/>
                      <a:r>
                        <a:rPr lang="es-CO" sz="1400" u="none" strike="noStrike" dirty="0">
                          <a:effectLst/>
                        </a:rPr>
                        <a:t>Reporte en XLS</a:t>
                      </a:r>
                      <a:endParaRPr lang="es-CO" sz="1400" b="0" i="0" u="none" strike="noStrike" dirty="0">
                        <a:solidFill>
                          <a:srgbClr val="000000"/>
                        </a:solidFill>
                        <a:effectLst/>
                        <a:latin typeface="LM Roman 12"/>
                      </a:endParaRPr>
                    </a:p>
                  </a:txBody>
                  <a:tcPr marL="9525" marR="9525" marT="9525" marB="0" anchor="ctr"/>
                </a:tc>
                <a:tc>
                  <a:txBody>
                    <a:bodyPr/>
                    <a:lstStyle/>
                    <a:p>
                      <a:pPr algn="just" fontAlgn="ctr"/>
                      <a:r>
                        <a:rPr lang="es-CO" sz="1400" u="none" strike="noStrike" dirty="0">
                          <a:effectLst/>
                        </a:rPr>
                        <a:t>Permite al usuario exportar el contenido de las tablas dinámicas, sin importar que se generen datos en tiempo real: una vez se genere el reporte, el usuario recibe un mensaje indicando que el reporte se generó correctamente.</a:t>
                      </a:r>
                      <a:endParaRPr lang="es-CO" sz="1400" b="0" i="0" u="none" strike="noStrike" dirty="0">
                        <a:solidFill>
                          <a:srgbClr val="000000"/>
                        </a:solidFill>
                        <a:effectLst/>
                        <a:latin typeface="LM Roman 12"/>
                      </a:endParaRPr>
                    </a:p>
                  </a:txBody>
                  <a:tcPr marL="9525" marR="9525" marT="9525" marB="0" anchor="ctr"/>
                </a:tc>
                <a:extLst>
                  <a:ext uri="{0D108BD9-81ED-4DB2-BD59-A6C34878D82A}">
                    <a16:rowId xmlns:a16="http://schemas.microsoft.com/office/drawing/2014/main" val="10002"/>
                  </a:ext>
                </a:extLst>
              </a:tr>
            </a:tbl>
          </a:graphicData>
        </a:graphic>
      </p:graphicFrame>
      <p:pic>
        <p:nvPicPr>
          <p:cNvPr id="14337" name="Picture 1" descr="C:\Users\USER\Desktop\FOTO_144480456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60032" y="4581128"/>
            <a:ext cx="3511208" cy="1656184"/>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C:\Users\USER\Desktop\FOTO_144480461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9489" y="4581128"/>
            <a:ext cx="3416487" cy="1656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567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Restricciones Presentadas</a:t>
            </a:r>
          </a:p>
        </p:txBody>
      </p:sp>
      <p:sp>
        <p:nvSpPr>
          <p:cNvPr id="3" name="2 Marcador de contenido"/>
          <p:cNvSpPr>
            <a:spLocks noGrp="1"/>
          </p:cNvSpPr>
          <p:nvPr>
            <p:ph sz="quarter" idx="1"/>
          </p:nvPr>
        </p:nvSpPr>
        <p:spPr/>
        <p:txBody>
          <a:bodyPr/>
          <a:lstStyle/>
          <a:p>
            <a:pPr lvl="0" algn="just"/>
            <a:r>
              <a:rPr lang="es-CO" dirty="0"/>
              <a:t>Presentó problemas de eficiencia cuando intentó tomar en forma paralela varias mediciones: no hay soporte al procesamiento paralelo.</a:t>
            </a:r>
          </a:p>
          <a:p>
            <a:pPr lvl="0" algn="just"/>
            <a:r>
              <a:rPr lang="es-CO" dirty="0"/>
              <a:t>El procesamiento y paso de datos depende mucho de la información que llega de los instrumentos y hay alto acoplamiento sobre el manejo de los puertos seriales y se requiere hacer muchas calibraciones matemáticas.</a:t>
            </a:r>
          </a:p>
          <a:p>
            <a:pPr lvl="0" algn="just"/>
            <a:r>
              <a:rPr lang="es-CO" dirty="0"/>
              <a:t>El buen funcionamiento de la interfaz depende de las prestaciones computacionales de la máquina.</a:t>
            </a:r>
          </a:p>
          <a:p>
            <a:endParaRPr lang="es-CO" dirty="0"/>
          </a:p>
        </p:txBody>
      </p:sp>
    </p:spTree>
    <p:extLst>
      <p:ext uri="{BB962C8B-B14F-4D97-AF65-F5344CB8AC3E}">
        <p14:creationId xmlns:p14="http://schemas.microsoft.com/office/powerpoint/2010/main" val="754171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O" dirty="0"/>
              <a:t>Conclusiones</a:t>
            </a:r>
          </a:p>
        </p:txBody>
      </p:sp>
      <p:sp>
        <p:nvSpPr>
          <p:cNvPr id="3" name="2 Marcador de contenido"/>
          <p:cNvSpPr>
            <a:spLocks noGrp="1"/>
          </p:cNvSpPr>
          <p:nvPr>
            <p:ph sz="quarter" idx="1"/>
          </p:nvPr>
        </p:nvSpPr>
        <p:spPr/>
        <p:txBody>
          <a:bodyPr>
            <a:normAutofit/>
          </a:bodyPr>
          <a:lstStyle/>
          <a:p>
            <a:pPr lvl="0" algn="just"/>
            <a:r>
              <a:rPr lang="es-CO" dirty="0"/>
              <a:t>La exploración de múltiples herramientas para la construcción de la aplicación resultaron enriquecedoras y la complementaron visualmente la y es capaz de interactuar con otros dispositivos o instrumentos.</a:t>
            </a:r>
          </a:p>
          <a:p>
            <a:pPr lvl="0" algn="just"/>
            <a:r>
              <a:rPr lang="es-CO" dirty="0"/>
              <a:t>Se realizó un fuerte uso de la comunicación serial y se exploró cómo comunicar dispositivos, hacer programas basados en comunicación y obtener datos para su análisis y manipulación para toma de decisiones.</a:t>
            </a:r>
          </a:p>
          <a:p>
            <a:pPr lvl="0" algn="just"/>
            <a:r>
              <a:rPr lang="es-CO" dirty="0"/>
              <a:t>Se implementaron nuevas funcionalidades que hacen de este proyecto una herramienta muy útil para hacer monitoreo y control sobre varios instrumentos. </a:t>
            </a:r>
          </a:p>
        </p:txBody>
      </p:sp>
    </p:spTree>
    <p:extLst>
      <p:ext uri="{BB962C8B-B14F-4D97-AF65-F5344CB8AC3E}">
        <p14:creationId xmlns:p14="http://schemas.microsoft.com/office/powerpoint/2010/main" val="7711610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en">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380</TotalTime>
  <Words>1756</Words>
  <Application>Microsoft Office PowerPoint</Application>
  <PresentationFormat>Presentación en pantalla (4:3)</PresentationFormat>
  <Paragraphs>166</Paragraphs>
  <Slides>32</Slides>
  <Notes>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32</vt:i4>
      </vt:variant>
    </vt:vector>
  </HeadingPairs>
  <TitlesOfParts>
    <vt:vector size="40" baseType="lpstr">
      <vt:lpstr>Bookman Old Style</vt:lpstr>
      <vt:lpstr>Calibri</vt:lpstr>
      <vt:lpstr>Gill Sans MT</vt:lpstr>
      <vt:lpstr>LM Roman 12</vt:lpstr>
      <vt:lpstr>Symbol</vt:lpstr>
      <vt:lpstr>Wingdings</vt:lpstr>
      <vt:lpstr>Wingdings 3</vt:lpstr>
      <vt:lpstr>Origen</vt:lpstr>
      <vt:lpstr>Desarrollo de una aplicación visual para el monitoreo y control de instrumentos electrónicos.</vt:lpstr>
      <vt:lpstr>Acerca del Autor</vt:lpstr>
      <vt:lpstr>Agenda</vt:lpstr>
      <vt:lpstr>Planteamiento del Problema</vt:lpstr>
      <vt:lpstr>Justificación del Problema</vt:lpstr>
      <vt:lpstr>Objetivos</vt:lpstr>
      <vt:lpstr>Alcance</vt:lpstr>
      <vt:lpstr>Plan de Implementación</vt:lpstr>
      <vt:lpstr>Presentación de PowerPoint</vt:lpstr>
      <vt:lpstr>Presentación de PowerPoint</vt:lpstr>
      <vt:lpstr>Presentación de PowerPoint</vt:lpstr>
      <vt:lpstr>Presentación de PowerPoint</vt:lpstr>
      <vt:lpstr>Toma de Datos desde Arduino</vt:lpstr>
      <vt:lpstr>Paso de datos propuesto desde Arduino a la Aplicación Visual</vt:lpstr>
      <vt:lpstr>Presentación de PowerPoint</vt:lpstr>
      <vt:lpstr>Implementación de Programa en Arduino para toma de datos.</vt:lpstr>
      <vt:lpstr>Toma de Datos por Comunicación Serial</vt:lpstr>
      <vt:lpstr>Parámetros de Comunicación Serial</vt:lpstr>
      <vt:lpstr>Manejo de Tramas – Comunicación Serial</vt:lpstr>
      <vt:lpstr>Ejemplo de Comunicación Serial RS232</vt:lpstr>
      <vt:lpstr>Ejemplo de Comunicación Serial - Java</vt:lpstr>
      <vt:lpstr>Gráficas de Monitoreo</vt:lpstr>
      <vt:lpstr>Estructura de la Aplicación</vt:lpstr>
      <vt:lpstr>Componentes de la Aplicación</vt:lpstr>
      <vt:lpstr>Herramientas de Desarrollo Necesarias</vt:lpstr>
      <vt:lpstr>Herramientas de Software</vt:lpstr>
      <vt:lpstr>Presentación de PowerPoint</vt:lpstr>
      <vt:lpstr>Resultado del Proceso de Construcción (Monitoreo de Balanza)</vt:lpstr>
      <vt:lpstr>Resultado del Proceso de Construcción  (Monitoreo de Flujo Másico)</vt:lpstr>
      <vt:lpstr>Resultado del Proceso de Construcción Generación de Reportes</vt:lpstr>
      <vt:lpstr>Restricciones Presentadas</vt:lpstr>
      <vt:lpstr>Conclusiones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Desarrollo de una aplicación visual para el monitoreo y control de una gota.</dc:title>
  <dc:creator>USER</dc:creator>
  <cp:lastModifiedBy>JHAMAYA CARPINTERIA</cp:lastModifiedBy>
  <cp:revision>25</cp:revision>
  <dcterms:created xsi:type="dcterms:W3CDTF">2015-10-14T04:29:46Z</dcterms:created>
  <dcterms:modified xsi:type="dcterms:W3CDTF">2026-10-21T23:22:16Z</dcterms:modified>
</cp:coreProperties>
</file>